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1" r:id="rId14"/>
    <p:sldId id="267" r:id="rId15"/>
    <p:sldId id="269" r:id="rId16"/>
    <p:sldId id="270" r:id="rId17"/>
    <p:sldId id="275" r:id="rId18"/>
    <p:sldId id="273" r:id="rId19"/>
    <p:sldId id="272" r:id="rId20"/>
    <p:sldId id="274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print.iacr.org/2006/251.pdf" TargetMode="External"/><Relationship Id="rId2" Type="http://schemas.openxmlformats.org/officeDocument/2006/relationships/hyperlink" Target="https://slides.in.ua/algo/dynamic/four-russians/#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acm.math.spbu.ru/~sk1/mm/lections/2014-08-20-bits.pdf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2B0C2-E7E2-4894-977A-96D22EBCF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Метод четырёх русских</a:t>
            </a:r>
            <a:endParaRPr lang="ru-UA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CD7B5E-C935-4C8D-8946-BFF6C05D08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умножения битовых матриц и не только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78388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E4322-7C8C-4A5E-9A11-E3CE050FC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9047" y="194310"/>
            <a:ext cx="9418320" cy="1126998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В чём состоит задача?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FCF79D-F484-426A-93A8-307C66C75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9047" y="1971675"/>
            <a:ext cx="9418320" cy="3228976"/>
          </a:xfrm>
        </p:spPr>
        <p:txBody>
          <a:bodyPr>
            <a:normAutofit/>
          </a:bodyPr>
          <a:lstStyle/>
          <a:p>
            <a:r>
              <a:rPr lang="ru-RU" sz="2800" dirty="0"/>
              <a:t>Найти </a:t>
            </a:r>
            <a:r>
              <a:rPr lang="en-US" sz="2800" dirty="0"/>
              <a:t>C</a:t>
            </a:r>
            <a:r>
              <a:rPr lang="en-US" sz="2800" baseline="-25000" dirty="0"/>
              <a:t>n</a:t>
            </a:r>
            <a:r>
              <a:rPr lang="ru-UA" sz="2800" baseline="-25000" dirty="0"/>
              <a:t> ×</a:t>
            </a:r>
            <a:r>
              <a:rPr lang="en-US" sz="2800" baseline="-25000" dirty="0"/>
              <a:t> n</a:t>
            </a:r>
            <a:r>
              <a:rPr lang="en-US" sz="2800" dirty="0"/>
              <a:t>= A</a:t>
            </a:r>
            <a:r>
              <a:rPr lang="en-US" sz="2800" baseline="-25000" dirty="0"/>
              <a:t>n</a:t>
            </a:r>
            <a:r>
              <a:rPr lang="ru-UA" sz="2800" baseline="-25000" dirty="0"/>
              <a:t> ×</a:t>
            </a:r>
            <a:r>
              <a:rPr lang="en-US" sz="2800" baseline="-25000" dirty="0"/>
              <a:t> n</a:t>
            </a:r>
            <a:r>
              <a:rPr lang="en-US" sz="2800" dirty="0"/>
              <a:t> </a:t>
            </a:r>
            <a:r>
              <a:rPr lang="ru-UA" sz="2800" dirty="0"/>
              <a:t>×</a:t>
            </a:r>
            <a:r>
              <a:rPr lang="en-US" sz="2800" dirty="0"/>
              <a:t> B</a:t>
            </a:r>
            <a:r>
              <a:rPr lang="en-US" sz="2800" baseline="-25000" dirty="0"/>
              <a:t>n</a:t>
            </a:r>
            <a:r>
              <a:rPr lang="ru-UA" sz="2800" baseline="-25000" dirty="0"/>
              <a:t> ×</a:t>
            </a:r>
            <a:r>
              <a:rPr lang="en-US" sz="2800" baseline="-25000" dirty="0"/>
              <a:t> n</a:t>
            </a:r>
            <a:r>
              <a:rPr lang="ru-RU" sz="2800" baseline="-25000" dirty="0"/>
              <a:t> </a:t>
            </a:r>
            <a:r>
              <a:rPr lang="en-US" sz="2800" dirty="0"/>
              <a:t>, </a:t>
            </a:r>
            <a:r>
              <a:rPr lang="ru-RU" sz="2800" dirty="0"/>
              <a:t>где </a:t>
            </a:r>
            <a:r>
              <a:rPr lang="en-US" sz="2800" dirty="0"/>
              <a:t>A </a:t>
            </a:r>
            <a:r>
              <a:rPr lang="ru-RU" sz="2800" dirty="0"/>
              <a:t>и </a:t>
            </a:r>
            <a:r>
              <a:rPr lang="en-US" sz="2800" dirty="0"/>
              <a:t>B </a:t>
            </a:r>
            <a:r>
              <a:rPr lang="ru-RU" sz="2800" dirty="0"/>
              <a:t>– изначальные квадратные матрицы, состоящие только из 0 или 1.</a:t>
            </a:r>
          </a:p>
          <a:p>
            <a:endParaRPr lang="ru-RU" sz="2800" dirty="0"/>
          </a:p>
          <a:p>
            <a:r>
              <a:rPr lang="ru-RU" sz="2800" u="sng" dirty="0"/>
              <a:t>Важно</a:t>
            </a:r>
            <a:r>
              <a:rPr lang="ru-RU" sz="2800" dirty="0"/>
              <a:t>: Операции выполняются по остатку деления на 2, то есть результирующая матрица также будет битовой.</a:t>
            </a:r>
            <a:endParaRPr lang="ru-RU" sz="2800" u="sng" dirty="0"/>
          </a:p>
          <a:p>
            <a:endParaRPr lang="ru-UA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83100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16A81-B28C-4CCF-8B9D-C07E364C0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847" y="261749"/>
            <a:ext cx="9418320" cy="700275"/>
          </a:xfrm>
        </p:spPr>
        <p:txBody>
          <a:bodyPr>
            <a:normAutofit/>
          </a:bodyPr>
          <a:lstStyle/>
          <a:p>
            <a:pPr algn="ctr"/>
            <a:r>
              <a:rPr lang="ru-RU" sz="4400" dirty="0"/>
              <a:t>Наивный алгоритм</a:t>
            </a:r>
            <a:endParaRPr lang="ru-UA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86A4B0C8-F031-4621-8EF6-0F12DCD6B90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61872" y="1028700"/>
                <a:ext cx="9418320" cy="5050156"/>
              </a:xfrm>
            </p:spPr>
            <p:txBody>
              <a:bodyPr>
                <a:normAutofit lnSpcReduction="10000"/>
              </a:bodyPr>
              <a:lstStyle/>
              <a:p>
                <a:br>
                  <a:rPr lang="ru-RU" sz="2800" dirty="0"/>
                </a:br>
                <a:br>
                  <a:rPr lang="ru-RU" sz="2800" dirty="0"/>
                </a:br>
                <a:r>
                  <a:rPr lang="ru-RU" sz="2800" dirty="0"/>
                  <a:t>Матрица </a:t>
                </a:r>
                <a:r>
                  <a:rPr lang="en-US" sz="2800" dirty="0"/>
                  <a:t>C</a:t>
                </a:r>
                <a:r>
                  <a:rPr lang="en-US" sz="2800" baseline="-25000" dirty="0"/>
                  <a:t>n</a:t>
                </a:r>
                <a:r>
                  <a:rPr lang="ru-UA" sz="2800" baseline="-25000" dirty="0"/>
                  <a:t> ×</a:t>
                </a:r>
                <a:r>
                  <a:rPr lang="en-US" sz="2800" baseline="-25000" dirty="0"/>
                  <a:t> n</a:t>
                </a:r>
                <a:r>
                  <a:rPr lang="ru-RU" sz="2800" baseline="-25000" dirty="0"/>
                  <a:t> </a:t>
                </a:r>
                <a:r>
                  <a:rPr lang="ru-RU" sz="2800" dirty="0"/>
                  <a:t>содержит </a:t>
                </a:r>
                <a:r>
                  <a:rPr lang="en-US" sz="2800" dirty="0"/>
                  <a:t>n</a:t>
                </a:r>
                <a:r>
                  <a:rPr lang="en-US" sz="2800" baseline="30000" dirty="0"/>
                  <a:t>2</a:t>
                </a:r>
                <a:r>
                  <a:rPr lang="ru-RU" sz="2800" baseline="30000" dirty="0"/>
                  <a:t> </a:t>
                </a:r>
                <a:r>
                  <a:rPr lang="ru-RU" sz="2800" dirty="0"/>
                  <a:t>элементов, каждый из которых считается по следующей формуле:</a:t>
                </a:r>
              </a:p>
              <a:p>
                <a:br>
                  <a:rPr lang="ru-RU" sz="2800" dirty="0"/>
                </a:br>
                <a:r>
                  <a:rPr lang="en-US" sz="2800" dirty="0"/>
                  <a:t>c</a:t>
                </a:r>
                <a:r>
                  <a:rPr lang="en-US" sz="2800" baseline="-25000" dirty="0"/>
                  <a:t>i,</a:t>
                </a:r>
                <a:r>
                  <a:rPr lang="ru-RU" sz="2800" baseline="-25000" dirty="0"/>
                  <a:t> </a:t>
                </a:r>
                <a:r>
                  <a:rPr lang="en-US" sz="2800" baseline="-25000" dirty="0"/>
                  <a:t>j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ru-RU" sz="28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sz="2800" b="0" i="0" baseline="-25000" dirty="0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ru-UA" sz="2800" baseline="-25000" dirty="0"/>
                  <a:t> </a:t>
                </a:r>
                <a:r>
                  <a:rPr lang="ru-UA" sz="2800" dirty="0"/>
                  <a:t>×</a:t>
                </a:r>
                <a:r>
                  <a:rPr lang="en-US" sz="2800" baseline="-25000" dirty="0"/>
                  <a:t> </a:t>
                </a:r>
                <a:r>
                  <a:rPr lang="en-US" sz="2800" dirty="0" err="1"/>
                  <a:t>b</a:t>
                </a:r>
                <a:r>
                  <a:rPr lang="en-US" sz="2800" baseline="-25000" dirty="0" err="1"/>
                  <a:t>j</a:t>
                </a:r>
                <a:r>
                  <a:rPr lang="ru-RU" dirty="0"/>
                  <a:t>) % 2</a:t>
                </a:r>
                <a:r>
                  <a:rPr lang="en-US" sz="2800" dirty="0"/>
                  <a:t>, </a:t>
                </a:r>
                <a:r>
                  <a:rPr lang="ru-RU" sz="2800" dirty="0"/>
                  <a:t>где </a:t>
                </a:r>
                <a:r>
                  <a:rPr lang="en-US" sz="2800" dirty="0"/>
                  <a:t>a</a:t>
                </a:r>
                <a:r>
                  <a:rPr lang="en-US" sz="2800" baseline="-25000" dirty="0"/>
                  <a:t>i</a:t>
                </a:r>
                <a:r>
                  <a:rPr lang="en-US" sz="2800" dirty="0"/>
                  <a:t> </a:t>
                </a:r>
                <a:r>
                  <a:rPr lang="ru-RU" sz="2800" dirty="0"/>
                  <a:t>и </a:t>
                </a:r>
                <a:r>
                  <a:rPr lang="en-US" sz="2800" dirty="0" err="1"/>
                  <a:t>b</a:t>
                </a:r>
                <a:r>
                  <a:rPr lang="en-US" sz="2800" baseline="-25000" dirty="0" err="1"/>
                  <a:t>j</a:t>
                </a:r>
                <a:r>
                  <a:rPr lang="en-US" sz="2800" dirty="0"/>
                  <a:t> </a:t>
                </a:r>
                <a:r>
                  <a:rPr lang="ru-RU" sz="2800" dirty="0"/>
                  <a:t>– соответственные векторы из исходных матриц </a:t>
                </a:r>
                <a:r>
                  <a:rPr lang="en-US" sz="2800" dirty="0"/>
                  <a:t>A</a:t>
                </a:r>
                <a:r>
                  <a:rPr lang="en-US" sz="2800" baseline="-25000" dirty="0"/>
                  <a:t>n</a:t>
                </a:r>
                <a:r>
                  <a:rPr lang="ru-UA" sz="2800" baseline="-25000" dirty="0"/>
                  <a:t> ×</a:t>
                </a:r>
                <a:r>
                  <a:rPr lang="en-US" sz="2800" baseline="-25000" dirty="0"/>
                  <a:t> n</a:t>
                </a:r>
                <a:r>
                  <a:rPr lang="en-US" sz="2800" dirty="0"/>
                  <a:t> </a:t>
                </a:r>
                <a:r>
                  <a:rPr lang="ru-RU" sz="2800" dirty="0"/>
                  <a:t>и</a:t>
                </a:r>
                <a:r>
                  <a:rPr lang="en-US" sz="2800" dirty="0"/>
                  <a:t> B</a:t>
                </a:r>
                <a:r>
                  <a:rPr lang="en-US" sz="2800" baseline="-25000" dirty="0"/>
                  <a:t>n</a:t>
                </a:r>
                <a:r>
                  <a:rPr lang="ru-UA" sz="2800" baseline="-25000" dirty="0"/>
                  <a:t> ×</a:t>
                </a:r>
                <a:r>
                  <a:rPr lang="en-US" sz="2800" baseline="-25000" dirty="0"/>
                  <a:t> n</a:t>
                </a:r>
                <a:r>
                  <a:rPr lang="en-US" sz="2800" dirty="0"/>
                  <a:t>, </a:t>
                </a:r>
                <a:r>
                  <a:rPr lang="ru-RU" sz="2800" dirty="0"/>
                  <a:t>которые в свою очередь перемножаются за </a:t>
                </a:r>
                <a:r>
                  <a:rPr lang="en-US" sz="2800" i="1" dirty="0"/>
                  <a:t>O(n)</a:t>
                </a:r>
                <a:r>
                  <a:rPr lang="ru-RU" sz="2800" i="1" dirty="0"/>
                  <a:t>.</a:t>
                </a:r>
                <a:br>
                  <a:rPr lang="ru-RU" sz="2800" dirty="0"/>
                </a:br>
                <a:br>
                  <a:rPr lang="ru-RU" sz="2800" dirty="0"/>
                </a:br>
                <a:r>
                  <a:rPr lang="ru-RU" sz="2800" dirty="0"/>
                  <a:t>Итоговая сложность наивного алгоритма составляет </a:t>
                </a:r>
                <a:r>
                  <a:rPr lang="en-US" sz="2800" i="1" dirty="0"/>
                  <a:t>O(n</a:t>
                </a:r>
                <a:r>
                  <a:rPr lang="en-US" sz="2800" i="1" baseline="30000" dirty="0"/>
                  <a:t>3</a:t>
                </a:r>
                <a:r>
                  <a:rPr lang="en-US" sz="2800" i="1" dirty="0"/>
                  <a:t>)</a:t>
                </a:r>
                <a:r>
                  <a:rPr lang="en-US" sz="2800" dirty="0"/>
                  <a:t>, </a:t>
                </a:r>
                <a:r>
                  <a:rPr lang="ru-RU" sz="2800" dirty="0"/>
                  <a:t>что довольно много при больших входных данных. По памяти он займёт всего </a:t>
                </a:r>
                <a:r>
                  <a:rPr lang="en-US" sz="2800" i="1" dirty="0"/>
                  <a:t>O(n</a:t>
                </a:r>
                <a:r>
                  <a:rPr lang="ru-RU" sz="2800" i="1" baseline="30000" dirty="0"/>
                  <a:t>2</a:t>
                </a:r>
                <a:r>
                  <a:rPr lang="en-US" sz="2800" i="1" dirty="0"/>
                  <a:t>)</a:t>
                </a:r>
                <a:r>
                  <a:rPr lang="ru-RU" sz="2800" i="1" dirty="0"/>
                  <a:t> </a:t>
                </a:r>
                <a:r>
                  <a:rPr lang="ru-RU" sz="2800" dirty="0"/>
                  <a:t>под 3 матрицы.</a:t>
                </a:r>
                <a:endParaRPr lang="ru-UA" sz="2800" dirty="0"/>
              </a:p>
            </p:txBody>
          </p:sp>
        </mc:Choice>
        <mc:Fallback xmlns="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86A4B0C8-F031-4621-8EF6-0F12DCD6B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61872" y="1028700"/>
                <a:ext cx="9418320" cy="5050156"/>
              </a:xfrm>
              <a:blipFill>
                <a:blip r:embed="rId2"/>
                <a:stretch>
                  <a:fillRect l="-1294" r="-712" b="-2657"/>
                </a:stretch>
              </a:blipFill>
            </p:spPr>
            <p:txBody>
              <a:bodyPr/>
              <a:lstStyle/>
              <a:p>
                <a:r>
                  <a:rPr lang="ru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42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1297D8-0A47-4903-9FFC-0A92BCBC7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107948"/>
          </a:xfrm>
        </p:spPr>
        <p:txBody>
          <a:bodyPr>
            <a:normAutofit/>
          </a:bodyPr>
          <a:lstStyle/>
          <a:p>
            <a:pPr algn="ctr"/>
            <a:r>
              <a:rPr lang="ru-RU" sz="5400" dirty="0"/>
              <a:t>История создания</a:t>
            </a:r>
            <a:endParaRPr lang="ru-UA" sz="5400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BF8E1691-1083-4BD1-B3E3-86A17423C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2717673"/>
            <a:ext cx="9418320" cy="3381375"/>
          </a:xfrm>
        </p:spPr>
        <p:txBody>
          <a:bodyPr>
            <a:normAutofit/>
          </a:bodyPr>
          <a:lstStyle/>
          <a:p>
            <a:pPr algn="just"/>
            <a:r>
              <a:rPr lang="ru-RU" sz="2600" dirty="0"/>
              <a:t>В 1970 году в рамках семинара по программированию </a:t>
            </a:r>
            <a:r>
              <a:rPr lang="ru-RU" sz="2600" dirty="0" err="1"/>
              <a:t>Брудно</a:t>
            </a:r>
            <a:r>
              <a:rPr lang="ru-RU" sz="2600" dirty="0"/>
              <a:t>-Кронрода советские учёные В. Л. Арлазаров, Е. А. </a:t>
            </a:r>
            <a:r>
              <a:rPr lang="ru-RU" sz="2600" dirty="0" err="1"/>
              <a:t>Диниц</a:t>
            </a:r>
            <a:r>
              <a:rPr lang="ru-RU" sz="2600" dirty="0"/>
              <a:t>, М. А. Кронрод и </a:t>
            </a:r>
            <a:r>
              <a:rPr lang="ru-RU" sz="2600" dirty="0" err="1"/>
              <a:t>И</a:t>
            </a:r>
            <a:r>
              <a:rPr lang="ru-RU" sz="2600" dirty="0"/>
              <a:t>. А. </a:t>
            </a:r>
            <a:r>
              <a:rPr lang="ru-RU" sz="2600" dirty="0" err="1"/>
              <a:t>Фараджев</a:t>
            </a:r>
            <a:r>
              <a:rPr lang="ru-RU" sz="2600" dirty="0"/>
              <a:t> опубликовали свою теорему о способе оптимизации некоторых алгоритмов. В зарубежных источниках она получила название «Метод четырёх русских», которое сегодня и является ведущим названием данного метода.</a:t>
            </a:r>
            <a:endParaRPr lang="ru-UA" sz="2600" dirty="0"/>
          </a:p>
        </p:txBody>
      </p:sp>
    </p:spTree>
    <p:extLst>
      <p:ext uri="{BB962C8B-B14F-4D97-AF65-F5344CB8AC3E}">
        <p14:creationId xmlns:p14="http://schemas.microsoft.com/office/powerpoint/2010/main" val="3798433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2D16D8-64EB-46DB-855F-23DDAD331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146048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Основная идея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54F677-0528-49D9-A93B-CD14BFC44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2486024"/>
            <a:ext cx="9418320" cy="3362326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Выбираем некоторое число </a:t>
            </a:r>
            <a:r>
              <a:rPr lang="en-US" sz="2800" dirty="0"/>
              <a:t>k</a:t>
            </a:r>
            <a:r>
              <a:rPr lang="ru-RU" sz="2800" dirty="0"/>
              <a:t> и делаем </a:t>
            </a:r>
            <a:r>
              <a:rPr lang="ru-RU" sz="2800" dirty="0" err="1"/>
              <a:t>предподсчет</a:t>
            </a:r>
            <a:r>
              <a:rPr lang="ru-RU" sz="2800" dirty="0"/>
              <a:t> произведений для всех возможных пар битовых векторов длины </a:t>
            </a:r>
            <a:r>
              <a:rPr lang="en-US" sz="2800" dirty="0"/>
              <a:t>k.</a:t>
            </a:r>
            <a:r>
              <a:rPr lang="ru-RU" sz="2800" dirty="0"/>
              <a:t> Затем делим матрицу </a:t>
            </a:r>
            <a:r>
              <a:rPr lang="en-US" sz="2800" dirty="0"/>
              <a:t>A </a:t>
            </a:r>
            <a:r>
              <a:rPr lang="ru-RU" sz="2800" dirty="0"/>
              <a:t>на блоки длины </a:t>
            </a:r>
            <a:r>
              <a:rPr lang="en-US" sz="2800" dirty="0"/>
              <a:t>k</a:t>
            </a:r>
            <a:r>
              <a:rPr lang="ru-RU" sz="2800" dirty="0"/>
              <a:t> по оси х, а матрицу </a:t>
            </a:r>
            <a:r>
              <a:rPr lang="en-US" sz="2800" dirty="0"/>
              <a:t>B</a:t>
            </a:r>
            <a:r>
              <a:rPr lang="ru-RU" sz="2800" dirty="0"/>
              <a:t> </a:t>
            </a:r>
            <a:r>
              <a:rPr lang="ru-UA" dirty="0"/>
              <a:t>—</a:t>
            </a:r>
            <a:r>
              <a:rPr lang="en-US" sz="2800" dirty="0"/>
              <a:t> </a:t>
            </a:r>
            <a:r>
              <a:rPr lang="ru-RU" sz="2800" dirty="0"/>
              <a:t>по оси </a:t>
            </a:r>
            <a:r>
              <a:rPr lang="en-US" sz="2800" dirty="0"/>
              <a:t>y. </a:t>
            </a:r>
            <a:r>
              <a:rPr lang="ru-RU" sz="2800" dirty="0"/>
              <a:t>Таким образом получаем «сжатые» исходные матрицы, для умножения которых мы уже можем идти не по всем элементам, а по блокам, так как ответы для них уже </a:t>
            </a:r>
            <a:r>
              <a:rPr lang="ru-RU" sz="2800" dirty="0" err="1"/>
              <a:t>предподсчитаны</a:t>
            </a:r>
            <a:r>
              <a:rPr lang="ru-RU" sz="2800" dirty="0"/>
              <a:t>.</a:t>
            </a:r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139510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C285C-C65C-4B88-B3CF-B8BE8F2B2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860298"/>
          </a:xfrm>
        </p:spPr>
        <p:txBody>
          <a:bodyPr>
            <a:normAutofit/>
          </a:bodyPr>
          <a:lstStyle/>
          <a:p>
            <a:pPr algn="ctr"/>
            <a:r>
              <a:rPr lang="ru-RU" sz="5400" dirty="0"/>
              <a:t>План действий</a:t>
            </a:r>
            <a:endParaRPr lang="ru-UA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248B39-3715-4571-9DFD-E807D23D9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1897" y="2622423"/>
            <a:ext cx="9418320" cy="2854452"/>
          </a:xfrm>
        </p:spPr>
        <p:txBody>
          <a:bodyPr>
            <a:normAutofit/>
          </a:bodyPr>
          <a:lstStyle/>
          <a:p>
            <a:pPr algn="just"/>
            <a:r>
              <a:rPr lang="ru-RU" sz="2600" dirty="0"/>
              <a:t>Алгоритм состоит из 3 основных шагов, каждый из которых необходимо разобрать отдельно:</a:t>
            </a:r>
          </a:p>
          <a:p>
            <a:pPr algn="just"/>
            <a:r>
              <a:rPr lang="ru-RU" sz="2600" dirty="0"/>
              <a:t>Шаг 1. </a:t>
            </a:r>
            <a:r>
              <a:rPr lang="ru-RU" sz="2600" dirty="0" err="1"/>
              <a:t>Предподсчёт</a:t>
            </a:r>
            <a:r>
              <a:rPr lang="ru-RU" sz="2600" dirty="0"/>
              <a:t> произведений векторов длины </a:t>
            </a:r>
            <a:r>
              <a:rPr lang="en-US" sz="2600" dirty="0"/>
              <a:t>k;</a:t>
            </a:r>
          </a:p>
          <a:p>
            <a:pPr algn="just"/>
            <a:r>
              <a:rPr lang="ru-RU" sz="2600" dirty="0"/>
              <a:t>Шаг 2. Сжатие исходных матрицы А и В</a:t>
            </a:r>
            <a:r>
              <a:rPr lang="en-US" sz="2600" dirty="0"/>
              <a:t>;</a:t>
            </a:r>
            <a:endParaRPr lang="ru-RU" sz="2600" dirty="0"/>
          </a:p>
          <a:p>
            <a:pPr algn="just"/>
            <a:r>
              <a:rPr lang="ru-RU" sz="2600" dirty="0"/>
              <a:t>Шаг 3. Умножение полученных сжатых матриц.</a:t>
            </a:r>
            <a:endParaRPr lang="ru-UA" sz="2600" dirty="0"/>
          </a:p>
        </p:txBody>
      </p:sp>
    </p:spTree>
    <p:extLst>
      <p:ext uri="{BB962C8B-B14F-4D97-AF65-F5344CB8AC3E}">
        <p14:creationId xmlns:p14="http://schemas.microsoft.com/office/powerpoint/2010/main" val="36899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13B8C-432E-4141-BE5B-8B11AF1FB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425" y="184785"/>
            <a:ext cx="11182350" cy="1117473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Шаг 1</a:t>
            </a:r>
            <a:br>
              <a:rPr lang="ru-RU" sz="3600" dirty="0"/>
            </a:br>
            <a:r>
              <a:rPr lang="ru-RU" sz="3600" dirty="0" err="1"/>
              <a:t>Предподсчёт</a:t>
            </a:r>
            <a:r>
              <a:rPr lang="ru-RU" sz="3600" dirty="0"/>
              <a:t> произведений векторов длины </a:t>
            </a:r>
            <a:r>
              <a:rPr lang="en-US" sz="3600" dirty="0"/>
              <a:t>k</a:t>
            </a:r>
            <a:endParaRPr lang="ru-UA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80AF1C-99CC-4A51-A0EB-895997FCD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638300"/>
            <a:ext cx="9418320" cy="4853940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Для сохранения результатов </a:t>
            </a:r>
            <a:r>
              <a:rPr lang="ru-RU" sz="2800" dirty="0" err="1"/>
              <a:t>предподсчёта</a:t>
            </a:r>
            <a:r>
              <a:rPr lang="ru-RU" sz="2800" dirty="0"/>
              <a:t> заведём матрицу </a:t>
            </a:r>
            <a:r>
              <a:rPr lang="en-US" sz="2800" dirty="0"/>
              <a:t>H.</a:t>
            </a:r>
            <a:endParaRPr lang="ru-RU" sz="2800" dirty="0"/>
          </a:p>
          <a:p>
            <a:pPr algn="just"/>
            <a:r>
              <a:rPr lang="ru-RU" sz="2800" dirty="0"/>
              <a:t>Чтобы перебрать пары битовых векторов длины </a:t>
            </a:r>
            <a:r>
              <a:rPr lang="en-US" sz="2800" dirty="0"/>
              <a:t>k</a:t>
            </a:r>
            <a:r>
              <a:rPr lang="ru-RU" sz="2800" dirty="0"/>
              <a:t> и сохранить их в матрицу </a:t>
            </a:r>
            <a:r>
              <a:rPr lang="en-US" sz="2800" dirty="0"/>
              <a:t>H,</a:t>
            </a:r>
            <a:r>
              <a:rPr lang="ru-RU" sz="2800" dirty="0"/>
              <a:t> удобно использовать маски. Переберём все </a:t>
            </a:r>
            <a:r>
              <a:rPr lang="en-US" sz="2800" dirty="0" err="1"/>
              <a:t>i</a:t>
            </a:r>
            <a:r>
              <a:rPr lang="en-US" sz="2800" dirty="0"/>
              <a:t> = (0, 1, …, 2</a:t>
            </a:r>
            <a:r>
              <a:rPr lang="en-US" sz="2800" baseline="30000" dirty="0"/>
              <a:t>k-1</a:t>
            </a:r>
            <a:r>
              <a:rPr lang="en-US" sz="2800" dirty="0"/>
              <a:t>) </a:t>
            </a:r>
            <a:r>
              <a:rPr lang="ru-RU" sz="2800" dirty="0"/>
              <a:t>и </a:t>
            </a:r>
            <a:r>
              <a:rPr lang="en-US" sz="2800" dirty="0"/>
              <a:t>j = (0, 1, …, 2</a:t>
            </a:r>
            <a:r>
              <a:rPr lang="en-US" sz="2800" baseline="30000" dirty="0"/>
              <a:t>k-1</a:t>
            </a:r>
            <a:r>
              <a:rPr lang="en-US" sz="2800" dirty="0"/>
              <a:t>) </a:t>
            </a:r>
            <a:r>
              <a:rPr lang="ru-RU" sz="2800" dirty="0"/>
              <a:t>и выполним для соответствующих масок как для векторов скалярное произведение по модулю 2</a:t>
            </a:r>
            <a:r>
              <a:rPr lang="en-US" sz="2800" dirty="0"/>
              <a:t>, </a:t>
            </a:r>
            <a:r>
              <a:rPr lang="ru-RU" sz="2800" dirty="0"/>
              <a:t>которое выполняется за </a:t>
            </a:r>
            <a:r>
              <a:rPr lang="en-US" sz="2800" i="1" dirty="0"/>
              <a:t>O(k)</a:t>
            </a:r>
            <a:r>
              <a:rPr lang="en-US" sz="2800" dirty="0"/>
              <a:t>.</a:t>
            </a:r>
          </a:p>
          <a:p>
            <a:pPr algn="just"/>
            <a:r>
              <a:rPr lang="ru-RU" sz="2800" dirty="0"/>
              <a:t> Итого</a:t>
            </a:r>
            <a:r>
              <a:rPr lang="en-US" sz="2800" dirty="0"/>
              <a:t>,</a:t>
            </a:r>
            <a:r>
              <a:rPr lang="ru-RU" sz="2800" dirty="0"/>
              <a:t> асимптотика первого шага по времени </a:t>
            </a:r>
            <a:r>
              <a:rPr lang="en-US" sz="2800" i="1" dirty="0"/>
              <a:t>O(2</a:t>
            </a:r>
            <a:r>
              <a:rPr lang="en-US" sz="2800" i="1" baseline="30000" dirty="0"/>
              <a:t>2k</a:t>
            </a:r>
            <a:r>
              <a:rPr lang="en-US" sz="2800" i="1" dirty="0"/>
              <a:t>k)</a:t>
            </a:r>
            <a:r>
              <a:rPr lang="en-US" sz="2800" dirty="0"/>
              <a:t>, </a:t>
            </a:r>
            <a:r>
              <a:rPr lang="ru-RU" sz="2800" dirty="0"/>
              <a:t>по памяти </a:t>
            </a:r>
            <a:r>
              <a:rPr lang="en-US" sz="2800" i="1" dirty="0"/>
              <a:t>O(2</a:t>
            </a:r>
            <a:r>
              <a:rPr lang="en-US" sz="2800" i="1" baseline="30000" dirty="0"/>
              <a:t>2k</a:t>
            </a:r>
            <a:r>
              <a:rPr lang="en-US" sz="2800" i="1" dirty="0"/>
              <a:t>)</a:t>
            </a:r>
            <a:r>
              <a:rPr lang="en-US" sz="2800" baseline="30000" dirty="0"/>
              <a:t> </a:t>
            </a:r>
            <a:r>
              <a:rPr lang="ru-RU" sz="2800" dirty="0"/>
              <a:t>на матрицу </a:t>
            </a:r>
            <a:r>
              <a:rPr lang="en-US" sz="2800" dirty="0"/>
              <a:t>H.         </a:t>
            </a:r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420171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F9DAC-CF20-42FC-B207-EF154008C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29847"/>
            <a:ext cx="9418320" cy="851228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Пример работы первого шага для </a:t>
            </a:r>
            <a:r>
              <a:rPr lang="en-US" sz="3600" dirty="0"/>
              <a:t>k = 2</a:t>
            </a:r>
            <a:endParaRPr lang="ru-UA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DE3B21-486B-4212-9E2A-C7D8EA4A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1209674"/>
            <a:ext cx="9418320" cy="5362575"/>
          </a:xfrm>
        </p:spPr>
        <p:txBody>
          <a:bodyPr>
            <a:noAutofit/>
          </a:bodyPr>
          <a:lstStyle/>
          <a:p>
            <a:r>
              <a:rPr lang="en-US" sz="2400" dirty="0"/>
              <a:t>                                                                                 H</a:t>
            </a:r>
          </a:p>
          <a:p>
            <a:r>
              <a:rPr lang="ru-RU" sz="2400" dirty="0"/>
              <a:t>Некоторые подсчёты:</a:t>
            </a:r>
            <a:endParaRPr lang="ru-RU" sz="3200" dirty="0"/>
          </a:p>
          <a:p>
            <a:r>
              <a:rPr lang="en-US" sz="2400" dirty="0"/>
              <a:t>H[</a:t>
            </a:r>
            <a:r>
              <a:rPr lang="ru-RU" sz="2400" dirty="0"/>
              <a:t>0</a:t>
            </a:r>
            <a:r>
              <a:rPr lang="en-US" sz="2400" dirty="0"/>
              <a:t>][</a:t>
            </a:r>
            <a:r>
              <a:rPr lang="ru-RU" sz="2400" dirty="0"/>
              <a:t>2</a:t>
            </a:r>
            <a:r>
              <a:rPr lang="en-US" sz="2400" dirty="0"/>
              <a:t>] = (0 </a:t>
            </a:r>
            <a:r>
              <a:rPr lang="ru-UA" sz="2400" dirty="0"/>
              <a:t>⋅</a:t>
            </a:r>
            <a:r>
              <a:rPr lang="en-US" sz="2400" dirty="0"/>
              <a:t> 1 + 0 </a:t>
            </a:r>
            <a:r>
              <a:rPr lang="ru-UA" sz="2400" dirty="0"/>
              <a:t>⋅</a:t>
            </a:r>
            <a:r>
              <a:rPr lang="en-US" sz="2400" dirty="0"/>
              <a:t> </a:t>
            </a:r>
            <a:r>
              <a:rPr lang="ru-RU" sz="2400" dirty="0"/>
              <a:t>0</a:t>
            </a:r>
            <a:r>
              <a:rPr lang="en-US" sz="2400" dirty="0"/>
              <a:t>) % 2</a:t>
            </a:r>
            <a:r>
              <a:rPr lang="ru-RU" sz="2400" dirty="0"/>
              <a:t> = 0</a:t>
            </a:r>
          </a:p>
          <a:p>
            <a:r>
              <a:rPr lang="en-US" sz="2400" dirty="0"/>
              <a:t>H[1][1] = (0 </a:t>
            </a:r>
            <a:r>
              <a:rPr lang="ru-UA" sz="2400" dirty="0"/>
              <a:t>⋅</a:t>
            </a:r>
            <a:r>
              <a:rPr lang="en-US" sz="2400" dirty="0"/>
              <a:t> 0 + 1 </a:t>
            </a:r>
            <a:r>
              <a:rPr lang="ru-UA" sz="2400" dirty="0"/>
              <a:t>⋅</a:t>
            </a:r>
            <a:r>
              <a:rPr lang="en-US" sz="2400" dirty="0"/>
              <a:t> 1) % 2</a:t>
            </a:r>
            <a:r>
              <a:rPr lang="ru-RU" sz="2400" dirty="0"/>
              <a:t> = </a:t>
            </a:r>
            <a:r>
              <a:rPr lang="en-US" sz="2400" dirty="0"/>
              <a:t>1</a:t>
            </a:r>
            <a:endParaRPr lang="ru-RU" sz="2400" dirty="0"/>
          </a:p>
          <a:p>
            <a:r>
              <a:rPr lang="en-US" sz="2400" dirty="0"/>
              <a:t>H[1][3] = (0 </a:t>
            </a:r>
            <a:r>
              <a:rPr lang="ru-UA" sz="2400" dirty="0"/>
              <a:t>⋅</a:t>
            </a:r>
            <a:r>
              <a:rPr lang="en-US" sz="2400" dirty="0"/>
              <a:t> 1 + </a:t>
            </a:r>
            <a:r>
              <a:rPr lang="ru-RU" sz="2400" dirty="0"/>
              <a:t>1</a:t>
            </a:r>
            <a:r>
              <a:rPr lang="en-US" sz="2400" dirty="0"/>
              <a:t> </a:t>
            </a:r>
            <a:r>
              <a:rPr lang="ru-UA" sz="2400" dirty="0"/>
              <a:t>⋅</a:t>
            </a:r>
            <a:r>
              <a:rPr lang="en-US" sz="2400" dirty="0"/>
              <a:t> </a:t>
            </a:r>
            <a:r>
              <a:rPr lang="ru-RU" sz="2400" dirty="0"/>
              <a:t>1</a:t>
            </a:r>
            <a:r>
              <a:rPr lang="en-US" sz="2400" dirty="0"/>
              <a:t>) % 2</a:t>
            </a:r>
            <a:r>
              <a:rPr lang="ru-RU" sz="2400" dirty="0"/>
              <a:t> = 1</a:t>
            </a:r>
            <a:endParaRPr lang="ru-UA" sz="2400" dirty="0"/>
          </a:p>
          <a:p>
            <a:r>
              <a:rPr lang="en-US" sz="2400" dirty="0"/>
              <a:t>H[2][</a:t>
            </a:r>
            <a:r>
              <a:rPr lang="ru-RU" sz="2400" dirty="0"/>
              <a:t>1</a:t>
            </a:r>
            <a:r>
              <a:rPr lang="en-US" sz="2400" dirty="0"/>
              <a:t>] = (</a:t>
            </a:r>
            <a:r>
              <a:rPr lang="ru-RU" sz="2400" dirty="0"/>
              <a:t>1</a:t>
            </a:r>
            <a:r>
              <a:rPr lang="en-US" sz="2400" dirty="0"/>
              <a:t> </a:t>
            </a:r>
            <a:r>
              <a:rPr lang="ru-UA" sz="2400" dirty="0"/>
              <a:t>⋅</a:t>
            </a:r>
            <a:r>
              <a:rPr lang="en-US" sz="2400" dirty="0"/>
              <a:t> </a:t>
            </a:r>
            <a:r>
              <a:rPr lang="ru-RU" sz="2400" dirty="0"/>
              <a:t>0</a:t>
            </a:r>
            <a:r>
              <a:rPr lang="en-US" sz="2400" dirty="0"/>
              <a:t> + 0 </a:t>
            </a:r>
            <a:r>
              <a:rPr lang="ru-UA" sz="2400" dirty="0"/>
              <a:t>⋅</a:t>
            </a:r>
            <a:r>
              <a:rPr lang="en-US" sz="2400" dirty="0"/>
              <a:t> </a:t>
            </a:r>
            <a:r>
              <a:rPr lang="ru-RU" sz="2400" dirty="0"/>
              <a:t>1</a:t>
            </a:r>
            <a:r>
              <a:rPr lang="en-US" sz="2400" dirty="0"/>
              <a:t>) % 2</a:t>
            </a:r>
            <a:r>
              <a:rPr lang="ru-RU" sz="2400" dirty="0"/>
              <a:t> = 0</a:t>
            </a:r>
            <a:endParaRPr lang="ru-UA" sz="2400" dirty="0"/>
          </a:p>
          <a:p>
            <a:r>
              <a:rPr lang="en-US" sz="2400" dirty="0"/>
              <a:t>H[</a:t>
            </a:r>
            <a:r>
              <a:rPr lang="ru-RU" sz="2400" dirty="0"/>
              <a:t>3</a:t>
            </a:r>
            <a:r>
              <a:rPr lang="en-US" sz="2400" dirty="0"/>
              <a:t>][</a:t>
            </a:r>
            <a:r>
              <a:rPr lang="ru-RU" sz="2400" dirty="0"/>
              <a:t>0</a:t>
            </a:r>
            <a:r>
              <a:rPr lang="en-US" sz="2400" dirty="0"/>
              <a:t>] = (1 </a:t>
            </a:r>
            <a:r>
              <a:rPr lang="ru-UA" sz="2400" dirty="0"/>
              <a:t>⋅</a:t>
            </a:r>
            <a:r>
              <a:rPr lang="en-US" sz="2400" dirty="0"/>
              <a:t> 0 + 1 </a:t>
            </a:r>
            <a:r>
              <a:rPr lang="ru-UA" sz="2400" dirty="0"/>
              <a:t>⋅</a:t>
            </a:r>
            <a:r>
              <a:rPr lang="en-US" sz="2400" dirty="0"/>
              <a:t> </a:t>
            </a:r>
            <a:r>
              <a:rPr lang="ru-RU" sz="2400" dirty="0"/>
              <a:t>0</a:t>
            </a:r>
            <a:r>
              <a:rPr lang="en-US" sz="2400" dirty="0"/>
              <a:t>) % 2</a:t>
            </a:r>
            <a:r>
              <a:rPr lang="ru-RU" sz="2400" dirty="0"/>
              <a:t> = 0</a:t>
            </a:r>
          </a:p>
          <a:p>
            <a:r>
              <a:rPr lang="en-US" sz="2400" dirty="0"/>
              <a:t>H[3][2] = (1 </a:t>
            </a:r>
            <a:r>
              <a:rPr lang="ru-UA" sz="2400" dirty="0"/>
              <a:t>⋅</a:t>
            </a:r>
            <a:r>
              <a:rPr lang="en-US" sz="2400" dirty="0"/>
              <a:t> 1 + 1 </a:t>
            </a:r>
            <a:r>
              <a:rPr lang="ru-UA" sz="2400" dirty="0"/>
              <a:t>⋅</a:t>
            </a:r>
            <a:r>
              <a:rPr lang="en-US" sz="2400" dirty="0"/>
              <a:t> </a:t>
            </a:r>
            <a:r>
              <a:rPr lang="ru-RU" sz="2400" dirty="0"/>
              <a:t>0</a:t>
            </a:r>
            <a:r>
              <a:rPr lang="en-US" sz="2400" dirty="0"/>
              <a:t>) % 2</a:t>
            </a:r>
            <a:r>
              <a:rPr lang="ru-RU" sz="2400" dirty="0"/>
              <a:t> = </a:t>
            </a:r>
            <a:r>
              <a:rPr lang="en-US" sz="2400" dirty="0"/>
              <a:t>1 </a:t>
            </a:r>
          </a:p>
          <a:p>
            <a:r>
              <a:rPr lang="en-US" sz="2400" dirty="0"/>
              <a:t>H[3][3] = (1 </a:t>
            </a:r>
            <a:r>
              <a:rPr lang="ru-UA" sz="2400" dirty="0"/>
              <a:t>⋅</a:t>
            </a:r>
            <a:r>
              <a:rPr lang="en-US" sz="2400" dirty="0"/>
              <a:t> 1 + 1 </a:t>
            </a:r>
            <a:r>
              <a:rPr lang="ru-UA" sz="2400" dirty="0"/>
              <a:t>⋅</a:t>
            </a:r>
            <a:r>
              <a:rPr lang="en-US" sz="2400" dirty="0"/>
              <a:t> 1) % 2</a:t>
            </a:r>
            <a:r>
              <a:rPr lang="ru-RU" sz="2400" dirty="0"/>
              <a:t> = 0</a:t>
            </a:r>
            <a:endParaRPr lang="ru-UA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A25E16-CDAA-4DEF-9525-E9027B74D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1714499"/>
            <a:ext cx="4834128" cy="484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12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3D192-8E2E-413A-8233-2577AA88B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11252"/>
            <a:ext cx="9418320" cy="184137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Шаг 2</a:t>
            </a:r>
            <a:br>
              <a:rPr lang="ru-RU" sz="4000" dirty="0"/>
            </a:br>
            <a:r>
              <a:rPr lang="ru-RU" sz="4000" dirty="0"/>
              <a:t>Сжатие исходных матрицы А и В</a:t>
            </a:r>
            <a:br>
              <a:rPr lang="ru-RU" dirty="0"/>
            </a:b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DBA9F1-E364-4C14-ADFA-216A28271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1228725"/>
            <a:ext cx="9418320" cy="5238750"/>
          </a:xfrm>
        </p:spPr>
        <p:txBody>
          <a:bodyPr>
            <a:noAutofit/>
          </a:bodyPr>
          <a:lstStyle/>
          <a:p>
            <a:pPr algn="just"/>
            <a:r>
              <a:rPr lang="ru-RU" sz="2400" dirty="0"/>
              <a:t>Для хранения сжатых матриц создадим матрицы </a:t>
            </a:r>
            <a:r>
              <a:rPr lang="en-US" sz="2400" dirty="0"/>
              <a:t>A</a:t>
            </a:r>
            <a:r>
              <a:rPr lang="he-IL" sz="2400" dirty="0"/>
              <a:t>‏׳‏‎</a:t>
            </a:r>
            <a:r>
              <a:rPr lang="ru-RU" sz="2400" dirty="0"/>
              <a:t> и </a:t>
            </a:r>
            <a:r>
              <a:rPr lang="en-US" sz="2400" dirty="0"/>
              <a:t>B</a:t>
            </a:r>
            <a:r>
              <a:rPr lang="he-IL" sz="2400" dirty="0"/>
              <a:t>‏׳‏‎</a:t>
            </a:r>
            <a:r>
              <a:rPr lang="en-US" sz="2400" dirty="0"/>
              <a:t>.</a:t>
            </a:r>
          </a:p>
          <a:p>
            <a:pPr algn="just"/>
            <a:r>
              <a:rPr lang="ru-RU" sz="2400" dirty="0"/>
              <a:t>Сжатие матрицы А проходит следующим образом : перебираем все строки </a:t>
            </a:r>
            <a:r>
              <a:rPr lang="en-US" sz="2400" dirty="0" err="1"/>
              <a:t>i</a:t>
            </a:r>
            <a:r>
              <a:rPr lang="en-US" sz="2400" dirty="0"/>
              <a:t> = (1, 2, …, n)</a:t>
            </a:r>
            <a:r>
              <a:rPr lang="ru-RU" sz="2400" dirty="0"/>
              <a:t>, в </a:t>
            </a:r>
            <a:r>
              <a:rPr lang="en-US" sz="2400" dirty="0" err="1"/>
              <a:t>i</a:t>
            </a:r>
            <a:r>
              <a:rPr lang="en-US" sz="2400" dirty="0"/>
              <a:t>-</a:t>
            </a:r>
            <a:r>
              <a:rPr lang="ru-RU" sz="2400" dirty="0"/>
              <a:t>ой строке перебираем </a:t>
            </a:r>
            <a:r>
              <a:rPr lang="en-US" sz="2400" dirty="0"/>
              <a:t>j = (1, 2, …, n)</a:t>
            </a:r>
            <a:r>
              <a:rPr lang="ru-RU" sz="2400" dirty="0"/>
              <a:t>. Каждые </a:t>
            </a:r>
            <a:r>
              <a:rPr lang="en-US" sz="2400" dirty="0"/>
              <a:t>k</a:t>
            </a:r>
            <a:r>
              <a:rPr lang="ru-RU" sz="2400" dirty="0"/>
              <a:t> значений строки мы «сворачиваем», то есть делаем перевод вектора длины </a:t>
            </a:r>
            <a:r>
              <a:rPr lang="en-US" sz="2400" dirty="0"/>
              <a:t>k</a:t>
            </a:r>
            <a:r>
              <a:rPr lang="ru-RU" sz="2400" dirty="0"/>
              <a:t> из маски в десятичное значение. Это значение сохраняем в </a:t>
            </a:r>
            <a:r>
              <a:rPr lang="en-US" sz="2400" dirty="0"/>
              <a:t>A</a:t>
            </a:r>
            <a:r>
              <a:rPr lang="he-IL" sz="2400" dirty="0"/>
              <a:t>‏׳</a:t>
            </a:r>
            <a:r>
              <a:rPr lang="en-US" sz="2400" baseline="-25000" dirty="0" err="1"/>
              <a:t>i</a:t>
            </a:r>
            <a:r>
              <a:rPr lang="en-US" sz="2400" baseline="-25000" dirty="0"/>
              <a:t>, j/k</a:t>
            </a:r>
            <a:r>
              <a:rPr lang="ru-RU" sz="2400" dirty="0"/>
              <a:t>. Если в конце строки остаётся количество значений меньше </a:t>
            </a:r>
            <a:r>
              <a:rPr lang="en-US" sz="2400" dirty="0"/>
              <a:t>k,</a:t>
            </a:r>
            <a:r>
              <a:rPr lang="ru-RU" sz="2400" dirty="0"/>
              <a:t> не обращаем на это внимание и сжимаем вектор длины </a:t>
            </a:r>
            <a:r>
              <a:rPr lang="en-US" sz="2400" dirty="0"/>
              <a:t>n % k</a:t>
            </a:r>
            <a:r>
              <a:rPr lang="ru-RU" sz="2400" dirty="0"/>
              <a:t>.</a:t>
            </a:r>
          </a:p>
          <a:p>
            <a:pPr algn="just"/>
            <a:r>
              <a:rPr lang="ru-RU" sz="2400" dirty="0"/>
              <a:t>Матрица </a:t>
            </a:r>
            <a:r>
              <a:rPr lang="en-US" sz="2400" dirty="0"/>
              <a:t>B </a:t>
            </a:r>
            <a:r>
              <a:rPr lang="ru-RU" sz="2400" dirty="0"/>
              <a:t>сжимается аналогично, только идём по столбцам и очередное значение записываем в </a:t>
            </a:r>
            <a:r>
              <a:rPr lang="en-US" sz="2400" dirty="0"/>
              <a:t>B</a:t>
            </a:r>
            <a:r>
              <a:rPr lang="he-IL" sz="2400" dirty="0"/>
              <a:t>‏׳</a:t>
            </a:r>
            <a:r>
              <a:rPr lang="en-US" sz="2400" baseline="-25000" dirty="0"/>
              <a:t>j/k, </a:t>
            </a:r>
            <a:r>
              <a:rPr lang="en-US" sz="2400" baseline="-25000" dirty="0" err="1"/>
              <a:t>i</a:t>
            </a:r>
            <a:r>
              <a:rPr lang="en-US" sz="2400" dirty="0"/>
              <a:t>.</a:t>
            </a:r>
            <a:endParaRPr lang="ru-RU" sz="2400" dirty="0"/>
          </a:p>
          <a:p>
            <a:pPr algn="just"/>
            <a:r>
              <a:rPr lang="ru-RU" sz="2400" dirty="0"/>
              <a:t>По времени мы делаем обход матриц </a:t>
            </a:r>
            <a:r>
              <a:rPr lang="en-US" sz="2400" dirty="0"/>
              <a:t>A </a:t>
            </a:r>
            <a:r>
              <a:rPr lang="ru-RU" sz="2400" dirty="0"/>
              <a:t>и </a:t>
            </a:r>
            <a:r>
              <a:rPr lang="en-US" sz="2400" dirty="0"/>
              <a:t>B,</a:t>
            </a:r>
            <a:r>
              <a:rPr lang="ru-RU" sz="2400" dirty="0"/>
              <a:t> на что тратим </a:t>
            </a:r>
            <a:r>
              <a:rPr lang="en-US" sz="2400" i="1" dirty="0"/>
              <a:t>O(n</a:t>
            </a:r>
            <a:r>
              <a:rPr lang="en-US" sz="2400" i="1" baseline="30000" dirty="0"/>
              <a:t>2</a:t>
            </a:r>
            <a:r>
              <a:rPr lang="en-US" sz="2400" i="1" dirty="0"/>
              <a:t>)</a:t>
            </a:r>
            <a:r>
              <a:rPr lang="en-US" sz="2400" dirty="0"/>
              <a:t>. </a:t>
            </a:r>
            <a:r>
              <a:rPr lang="ru-RU" sz="2400" dirty="0"/>
              <a:t>Под </a:t>
            </a:r>
            <a:r>
              <a:rPr lang="en-US" sz="2400" dirty="0"/>
              <a:t>A</a:t>
            </a:r>
            <a:r>
              <a:rPr lang="he-IL" sz="2400" dirty="0"/>
              <a:t>‏׳‏‎</a:t>
            </a:r>
            <a:r>
              <a:rPr lang="ru-RU" sz="2400" dirty="0"/>
              <a:t> и </a:t>
            </a:r>
            <a:r>
              <a:rPr lang="en-US" sz="2400" dirty="0"/>
              <a:t>B</a:t>
            </a:r>
            <a:r>
              <a:rPr lang="he-IL" sz="2400" dirty="0"/>
              <a:t>‏׳</a:t>
            </a:r>
            <a:r>
              <a:rPr lang="uk-UA" sz="2400" dirty="0"/>
              <a:t> </a:t>
            </a:r>
            <a:r>
              <a:rPr lang="uk-UA" sz="2400" dirty="0" err="1"/>
              <a:t>нужно</a:t>
            </a:r>
            <a:r>
              <a:rPr lang="uk-UA" sz="2400" dirty="0"/>
              <a:t> </a:t>
            </a:r>
            <a:r>
              <a:rPr lang="uk-UA" sz="2400" dirty="0" err="1"/>
              <a:t>выделить</a:t>
            </a:r>
            <a:r>
              <a:rPr lang="uk-UA" sz="2400" dirty="0"/>
              <a:t> </a:t>
            </a:r>
            <a:r>
              <a:rPr lang="en-US" sz="2400" i="1" dirty="0"/>
              <a:t>O(n</a:t>
            </a:r>
            <a:r>
              <a:rPr lang="ru-RU" sz="2400" i="1" baseline="30000" dirty="0"/>
              <a:t>2</a:t>
            </a:r>
            <a:r>
              <a:rPr lang="en-US" sz="2400" i="1" dirty="0"/>
              <a:t> / k)</a:t>
            </a:r>
            <a:r>
              <a:rPr lang="en-US" sz="2400" dirty="0"/>
              <a:t> </a:t>
            </a:r>
            <a:r>
              <a:rPr lang="ru-RU" sz="2400" dirty="0"/>
              <a:t>памяти.</a:t>
            </a:r>
          </a:p>
        </p:txBody>
      </p:sp>
    </p:spTree>
    <p:extLst>
      <p:ext uri="{BB962C8B-B14F-4D97-AF65-F5344CB8AC3E}">
        <p14:creationId xmlns:p14="http://schemas.microsoft.com/office/powerpoint/2010/main" val="415374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61A88-9CF4-4B43-A291-CA1A6C327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0" y="266510"/>
            <a:ext cx="9927717" cy="803148"/>
          </a:xfrm>
        </p:spPr>
        <p:txBody>
          <a:bodyPr>
            <a:noAutofit/>
          </a:bodyPr>
          <a:lstStyle/>
          <a:p>
            <a:r>
              <a:rPr lang="ru-RU" sz="3600" dirty="0"/>
              <a:t>Пример работы второго шага для </a:t>
            </a:r>
            <a:r>
              <a:rPr lang="en-US" sz="3600" dirty="0"/>
              <a:t>n = 5, k = 2</a:t>
            </a:r>
            <a:r>
              <a:rPr lang="ru-RU" sz="3600" dirty="0"/>
              <a:t> </a:t>
            </a:r>
            <a:endParaRPr lang="ru-UA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0E6C1C-6CA4-46C7-86A7-2D7394562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6568" y="1231544"/>
            <a:ext cx="9418320" cy="63408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                 </a:t>
            </a:r>
            <a:r>
              <a:rPr lang="en-US" sz="3600" dirty="0"/>
              <a:t>A </a:t>
            </a:r>
            <a:r>
              <a:rPr lang="ru-RU" sz="3600" dirty="0"/>
              <a:t>                 </a:t>
            </a:r>
            <a:r>
              <a:rPr lang="ru-UA" sz="4000" dirty="0"/>
              <a:t>→</a:t>
            </a:r>
            <a:r>
              <a:rPr lang="uk-UA" sz="3600" dirty="0"/>
              <a:t>                 </a:t>
            </a:r>
            <a:r>
              <a:rPr lang="en-US" sz="3600" dirty="0"/>
              <a:t>A</a:t>
            </a:r>
            <a:r>
              <a:rPr lang="he-IL" sz="3600" dirty="0"/>
              <a:t>‏׳</a:t>
            </a:r>
            <a:endParaRPr lang="ru-UA" sz="3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5A9AD7-BEC3-4130-BBEA-B65FF17C6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179" y="1725930"/>
            <a:ext cx="4648200" cy="46577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2CD7A2-F4DB-45F5-8965-CFB2E1FDC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912" y="1741766"/>
            <a:ext cx="4676775" cy="47053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500052-BE23-4B62-B742-EBD01A1B8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020" y="1697951"/>
            <a:ext cx="4648200" cy="4619625"/>
          </a:xfrm>
          <a:prstGeom prst="rect">
            <a:avLst/>
          </a:prstGeom>
        </p:spPr>
      </p:pic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1BFE1AD0-A17F-4E14-97F6-F893252782F0}"/>
              </a:ext>
            </a:extLst>
          </p:cNvPr>
          <p:cNvSpPr txBox="1">
            <a:spLocks/>
          </p:cNvSpPr>
          <p:nvPr/>
        </p:nvSpPr>
        <p:spPr>
          <a:xfrm>
            <a:off x="1478468" y="1231544"/>
            <a:ext cx="9418320" cy="6340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                 </a:t>
            </a:r>
            <a:r>
              <a:rPr lang="en-US" sz="3600" dirty="0"/>
              <a:t>B </a:t>
            </a:r>
            <a:r>
              <a:rPr lang="ru-RU" sz="3600" dirty="0"/>
              <a:t>                 </a:t>
            </a:r>
            <a:r>
              <a:rPr lang="ru-UA" sz="4000" dirty="0"/>
              <a:t>→</a:t>
            </a:r>
            <a:r>
              <a:rPr lang="uk-UA" sz="3600" dirty="0"/>
              <a:t>                 </a:t>
            </a:r>
            <a:r>
              <a:rPr lang="en-US" sz="3600" dirty="0"/>
              <a:t>B</a:t>
            </a:r>
            <a:r>
              <a:rPr lang="he-IL" sz="3600" dirty="0"/>
              <a:t>‏׳</a:t>
            </a:r>
            <a:endParaRPr lang="ru-UA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684052-83F4-4601-BA70-BA7804144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780" y="1692275"/>
            <a:ext cx="46482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46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A629A-D607-48F3-BA31-057F22045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606552"/>
            <a:ext cx="9418320" cy="593598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Шаг 3</a:t>
            </a:r>
            <a:br>
              <a:rPr lang="en-US" sz="3600" dirty="0"/>
            </a:br>
            <a:r>
              <a:rPr lang="ru-RU" sz="3600" dirty="0"/>
              <a:t>Умножение полученных сжатых матриц</a:t>
            </a:r>
            <a:endParaRPr lang="ru-UA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E1015F0B-31CF-4817-A6EB-4767B7D9551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86840" y="1231773"/>
                <a:ext cx="9418320" cy="5626227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ru-RU" sz="2800" dirty="0"/>
                  <a:t>Для получения результирующей матрицы </a:t>
                </a:r>
                <a:r>
                  <a:rPr lang="en-US" sz="2800" dirty="0"/>
                  <a:t>C </a:t>
                </a:r>
                <a:r>
                  <a:rPr lang="ru-RU" sz="2800" dirty="0"/>
                  <a:t>достаточно посчитать </a:t>
                </a:r>
                <a:r>
                  <a:rPr lang="en-US" sz="2800" dirty="0"/>
                  <a:t>A</a:t>
                </a:r>
                <a:r>
                  <a:rPr lang="he-IL" sz="2800" dirty="0"/>
                  <a:t>‏׳‏‎</a:t>
                </a:r>
                <a:r>
                  <a:rPr lang="ru-RU" sz="2800" dirty="0"/>
                  <a:t> </a:t>
                </a:r>
                <a:r>
                  <a:rPr lang="ru-UA" sz="2800" dirty="0"/>
                  <a:t>×</a:t>
                </a:r>
                <a:r>
                  <a:rPr lang="ru-RU" sz="2800" dirty="0"/>
                  <a:t> </a:t>
                </a:r>
                <a:r>
                  <a:rPr lang="en-US" sz="2800" dirty="0"/>
                  <a:t>B</a:t>
                </a:r>
                <a:r>
                  <a:rPr lang="he-IL" sz="2800" dirty="0"/>
                  <a:t>‏׳</a:t>
                </a:r>
                <a:r>
                  <a:rPr lang="ru-RU" sz="2800" dirty="0"/>
                  <a:t>. Но для подсчёта </a:t>
                </a:r>
                <a:r>
                  <a:rPr lang="en-US" sz="2800" dirty="0"/>
                  <a:t>c</a:t>
                </a:r>
                <a:r>
                  <a:rPr lang="en-US" sz="2800" baseline="-25000" dirty="0"/>
                  <a:t>i,</a:t>
                </a:r>
                <a:r>
                  <a:rPr lang="ru-RU" sz="2800" baseline="-25000" dirty="0"/>
                  <a:t> </a:t>
                </a:r>
                <a:r>
                  <a:rPr lang="en-US" sz="2800" baseline="-25000" dirty="0"/>
                  <a:t>j </a:t>
                </a:r>
                <a14:m>
                  <m:oMath xmlns:m="http://schemas.openxmlformats.org/officeDocument/2006/math">
                    <m:r>
                      <a:rPr lang="ru-RU" sz="2800" i="1" dirty="0" smtClean="0">
                        <a:latin typeface="Cambria Math" panose="02040503050406030204" pitchFamily="18" charset="0"/>
                      </a:rPr>
                      <m:t>б</m:t>
                    </m:r>
                    <m:r>
                      <a:rPr lang="ru-RU" sz="2800" b="0" i="1" dirty="0" smtClean="0">
                        <a:latin typeface="Cambria Math" panose="02040503050406030204" pitchFamily="18" charset="0"/>
                      </a:rPr>
                      <m:t>удет использоваться не результат </m:t>
                    </m:r>
                    <m:r>
                      <m:rPr>
                        <m:nor/>
                      </m:rPr>
                      <a:rPr lang="ru-RU" sz="280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he-IL" sz="2800"/>
                      <m:t>׳</m:t>
                    </m:r>
                    <m:r>
                      <m:rPr>
                        <m:nor/>
                      </m:rPr>
                      <a:rPr lang="he-IL" sz="2800"/>
                      <m:t>‎</m:t>
                    </m:r>
                    <m:r>
                      <m:rPr>
                        <m:nor/>
                      </m:rPr>
                      <a:rPr lang="en-US" sz="2800" baseline="-25000" dirty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sz="2800" b="0" i="0" baseline="-2500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2800" b="0" i="0" baseline="-2500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ru-UA" sz="2800" baseline="-25000" dirty="0"/>
                  <a:t> </a:t>
                </a:r>
                <a:r>
                  <a:rPr lang="ru-UA" sz="2800" dirty="0"/>
                  <a:t>⋅</a:t>
                </a:r>
                <a:r>
                  <a:rPr lang="en-US" sz="2800" baseline="-25000" dirty="0"/>
                  <a:t> </a:t>
                </a:r>
                <a:r>
                  <a:rPr lang="en-US" sz="2800" dirty="0"/>
                  <a:t>b</a:t>
                </a:r>
                <a:r>
                  <a:rPr lang="he-IL" sz="2800" dirty="0"/>
                  <a:t> ‏׳‏</a:t>
                </a:r>
                <a:r>
                  <a:rPr lang="en-US" sz="2800" baseline="-25000" dirty="0"/>
                  <a:t>k, j</a:t>
                </a:r>
                <a:r>
                  <a:rPr lang="ru-RU" sz="2800" dirty="0"/>
                  <a:t>),</a:t>
                </a:r>
                <a:r>
                  <a:rPr lang="en-US" sz="2800" dirty="0"/>
                  <a:t> </a:t>
                </a:r>
                <a:r>
                  <a:rPr lang="ru-RU" sz="2800" dirty="0"/>
                  <a:t>как в обычном умножении</a:t>
                </a:r>
                <a:r>
                  <a:rPr lang="en-US" sz="2800" dirty="0"/>
                  <a:t> </a:t>
                </a:r>
                <a:r>
                  <a:rPr lang="ru-RU" sz="2800" dirty="0"/>
                  <a:t>матриц, а значение из вспомогательный матрицы </a:t>
                </a:r>
                <a:r>
                  <a:rPr lang="en-US" sz="2800" dirty="0"/>
                  <a:t>H</a:t>
                </a:r>
                <a:r>
                  <a:rPr lang="ru-RU" sz="2800" baseline="-25000" dirty="0"/>
                  <a:t> </a:t>
                </a:r>
                <a:r>
                  <a:rPr lang="ru-RU" sz="2800" dirty="0"/>
                  <a:t> с соответственными индексами</a:t>
                </a:r>
                <a:r>
                  <a:rPr lang="en-US" sz="2800" dirty="0"/>
                  <a:t>.</a:t>
                </a:r>
                <a:endParaRPr lang="ru-RU" sz="2800" dirty="0"/>
              </a:p>
              <a:p>
                <a:pPr algn="just"/>
                <a:r>
                  <a:rPr lang="ru-RU" sz="2800" dirty="0"/>
                  <a:t>Из доказательства асимптотики умножения матриц получается, что мы перемножаем </a:t>
                </a:r>
                <a:r>
                  <a:rPr lang="en-US" sz="2800" dirty="0"/>
                  <a:t>A</a:t>
                </a:r>
                <a:r>
                  <a:rPr lang="he-IL" sz="2800" dirty="0"/>
                  <a:t> ‏׳</a:t>
                </a:r>
                <a:r>
                  <a:rPr lang="en-US" sz="2800" baseline="-25000" dirty="0"/>
                  <a:t>n</a:t>
                </a:r>
                <a:r>
                  <a:rPr lang="ru-UA" sz="2800" baseline="-25000" dirty="0"/>
                  <a:t> ×</a:t>
                </a:r>
                <a:r>
                  <a:rPr lang="en-US" sz="2800" baseline="-25000" dirty="0"/>
                  <a:t> n/k</a:t>
                </a:r>
                <a:r>
                  <a:rPr lang="he-IL" sz="2800" dirty="0"/>
                  <a:t>‏‎</a:t>
                </a:r>
                <a:r>
                  <a:rPr lang="ru-RU" sz="2800" dirty="0"/>
                  <a:t> </a:t>
                </a:r>
                <a:r>
                  <a:rPr lang="ru-UA" sz="2800" dirty="0"/>
                  <a:t>×</a:t>
                </a:r>
                <a:r>
                  <a:rPr lang="ru-RU" sz="2800" dirty="0"/>
                  <a:t> </a:t>
                </a:r>
                <a:r>
                  <a:rPr lang="en-US" sz="2800" dirty="0"/>
                  <a:t>B</a:t>
                </a:r>
                <a:r>
                  <a:rPr lang="he-IL" sz="2800" dirty="0"/>
                  <a:t>׳ </a:t>
                </a:r>
                <a:r>
                  <a:rPr lang="en-US" sz="2800" baseline="-25000" dirty="0"/>
                  <a:t>n/k</a:t>
                </a:r>
                <a:r>
                  <a:rPr lang="ru-UA" sz="2800" baseline="-25000" dirty="0"/>
                  <a:t> ×</a:t>
                </a:r>
                <a:r>
                  <a:rPr lang="en-US" sz="2800" baseline="-25000" dirty="0"/>
                  <a:t> n</a:t>
                </a:r>
                <a:r>
                  <a:rPr lang="en-US" sz="2800" dirty="0"/>
                  <a:t> </a:t>
                </a:r>
                <a:r>
                  <a:rPr lang="ru-RU" sz="2800" dirty="0"/>
                  <a:t>за </a:t>
                </a:r>
                <a:r>
                  <a:rPr lang="en-US" sz="2800" i="1" dirty="0"/>
                  <a:t>O(n</a:t>
                </a:r>
                <a:r>
                  <a:rPr lang="en-US" sz="2800" i="1" baseline="30000" dirty="0"/>
                  <a:t>3 </a:t>
                </a:r>
                <a:r>
                  <a:rPr lang="en-US" sz="2800" i="1" dirty="0"/>
                  <a:t>/ k)</a:t>
                </a:r>
                <a:r>
                  <a:rPr lang="en-US" sz="2800" dirty="0"/>
                  <a:t>.</a:t>
                </a:r>
                <a:r>
                  <a:rPr lang="ru-RU" sz="2800" dirty="0"/>
                  <a:t> Что касается памяти, то на матрицу </a:t>
                </a:r>
                <a:r>
                  <a:rPr lang="en-US" sz="2800" dirty="0"/>
                  <a:t>C </a:t>
                </a:r>
                <a:r>
                  <a:rPr lang="ru-RU" sz="2800" dirty="0"/>
                  <a:t>нужно выделить </a:t>
                </a:r>
                <a:r>
                  <a:rPr lang="en-US" sz="2800" i="1" dirty="0"/>
                  <a:t>O(n</a:t>
                </a:r>
                <a:r>
                  <a:rPr lang="en-US" sz="2800" i="1" baseline="30000" dirty="0"/>
                  <a:t>2</a:t>
                </a:r>
                <a:r>
                  <a:rPr lang="en-US" sz="2800" i="1" dirty="0"/>
                  <a:t>)</a:t>
                </a:r>
                <a:r>
                  <a:rPr lang="en-US" sz="2800" dirty="0"/>
                  <a:t>, </a:t>
                </a:r>
                <a:r>
                  <a:rPr lang="ru-RU" sz="2800" dirty="0"/>
                  <a:t>как и в наивной реализации, так как выходные данные не должны меняться от замены алгоритма.</a:t>
                </a:r>
                <a:endParaRPr lang="ru-UA" sz="2800" baseline="30000" dirty="0"/>
              </a:p>
            </p:txBody>
          </p:sp>
        </mc:Choice>
        <mc:Fallback xmlns="">
          <p:sp>
            <p:nvSpPr>
              <p:cNvPr id="3" name="Подзаголовок 2">
                <a:extLst>
                  <a:ext uri="{FF2B5EF4-FFF2-40B4-BE49-F238E27FC236}">
                    <a16:creationId xmlns:a16="http://schemas.microsoft.com/office/drawing/2014/main" id="{E1015F0B-31CF-4817-A6EB-4767B7D95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86840" y="1231773"/>
                <a:ext cx="9418320" cy="5626227"/>
              </a:xfrm>
              <a:blipFill>
                <a:blip r:embed="rId2"/>
                <a:stretch>
                  <a:fillRect l="-1359" t="-1408" r="-1294"/>
                </a:stretch>
              </a:blipFill>
            </p:spPr>
            <p:txBody>
              <a:bodyPr/>
              <a:lstStyle/>
              <a:p>
                <a:r>
                  <a:rPr lang="ru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529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D992C-C829-4A4F-AF5A-03A0DF4E1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000" y="-279100"/>
            <a:ext cx="9418320" cy="91744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dirty="0"/>
              <a:t>Пример работы шага 3 для </a:t>
            </a:r>
            <a:r>
              <a:rPr lang="en-US" sz="4400" dirty="0"/>
              <a:t>n = 5, k = 2</a:t>
            </a:r>
            <a:endParaRPr lang="ru-UA" sz="4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FC44DF-9DB4-465C-994A-12B6EADA7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94" y="4254207"/>
            <a:ext cx="3617731" cy="22528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D4D58D-A4DD-4582-BA04-0D96CF2EE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94" y="783447"/>
            <a:ext cx="2057868" cy="3325661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F21738-D8E8-4D61-8519-9CC266801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232" y="641604"/>
            <a:ext cx="10980928" cy="608431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A</a:t>
            </a:r>
            <a:r>
              <a:rPr lang="he-IL" sz="2400" dirty="0"/>
              <a:t>‏׳</a:t>
            </a:r>
            <a:r>
              <a:rPr lang="en-US" sz="2400" dirty="0"/>
              <a:t>=                                                           H=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B</a:t>
            </a:r>
            <a:r>
              <a:rPr lang="he-IL" sz="2400" dirty="0"/>
              <a:t>׳</a:t>
            </a:r>
            <a:r>
              <a:rPr lang="en-US" sz="2400" dirty="0"/>
              <a:t>=                                                 c</a:t>
            </a:r>
            <a:r>
              <a:rPr lang="en-US" sz="2400" baseline="-25000" dirty="0"/>
              <a:t>1, 1</a:t>
            </a:r>
            <a:r>
              <a:rPr lang="en-US" dirty="0"/>
              <a:t>= (H</a:t>
            </a:r>
            <a:r>
              <a:rPr lang="en-US" baseline="-25000" dirty="0"/>
              <a:t>2, 2</a:t>
            </a:r>
            <a:r>
              <a:rPr lang="en-US" dirty="0"/>
              <a:t> + H</a:t>
            </a:r>
            <a:r>
              <a:rPr lang="en-US" baseline="-25000" dirty="0"/>
              <a:t>3, 0</a:t>
            </a:r>
            <a:r>
              <a:rPr lang="en-US" dirty="0"/>
              <a:t> + H</a:t>
            </a:r>
            <a:r>
              <a:rPr lang="en-US" baseline="-25000" dirty="0"/>
              <a:t>0, 1</a:t>
            </a:r>
            <a:r>
              <a:rPr lang="en-US" dirty="0"/>
              <a:t>) % 2</a:t>
            </a:r>
          </a:p>
          <a:p>
            <a:r>
              <a:rPr lang="en-US" dirty="0"/>
              <a:t>                                                            =  (1 + 0 + 0) % 2 = 1</a:t>
            </a:r>
            <a:endParaRPr lang="ru-UA" baseline="-25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E297B6-EF3A-44B5-A7BB-5B3B88E2D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280" y="783447"/>
            <a:ext cx="3896360" cy="3904427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AA6F0CC4-2346-45DB-A8FF-366329048CA0}"/>
              </a:ext>
            </a:extLst>
          </p:cNvPr>
          <p:cNvSpPr/>
          <p:nvPr/>
        </p:nvSpPr>
        <p:spPr>
          <a:xfrm>
            <a:off x="1762761" y="857250"/>
            <a:ext cx="1799590" cy="55245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8802CF7-8B5A-4F79-9E2D-5DFA5EE01E47}"/>
              </a:ext>
            </a:extLst>
          </p:cNvPr>
          <p:cNvSpPr/>
          <p:nvPr/>
        </p:nvSpPr>
        <p:spPr>
          <a:xfrm rot="5400000">
            <a:off x="1132396" y="5047171"/>
            <a:ext cx="1926844" cy="66611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6394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2588C-1402-4BDF-8BFF-3975B090D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946023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Почему это работает?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2D0418-8F76-4439-BB8B-FC9BF8CE1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2257424"/>
            <a:ext cx="9418320" cy="4229101"/>
          </a:xfrm>
        </p:spPr>
        <p:txBody>
          <a:bodyPr>
            <a:noAutofit/>
          </a:bodyPr>
          <a:lstStyle/>
          <a:p>
            <a:pPr algn="just"/>
            <a:r>
              <a:rPr lang="ru-RU" sz="2600" dirty="0"/>
              <a:t>Алгоритм является корректным, так как несмотря на сжатие исходных матриц, никакие данные не теряются.</a:t>
            </a:r>
            <a:br>
              <a:rPr lang="ru-RU" sz="2600" dirty="0"/>
            </a:br>
            <a:r>
              <a:rPr lang="ru-RU" sz="2600" dirty="0"/>
              <a:t>По сути, мы не меняем матрицы, а представляем их в другом, более удобном  для нас виде. Это позволяет нам в следующих шагах использовать этот вид для эффективного использования заранее </a:t>
            </a:r>
            <a:r>
              <a:rPr lang="ru-RU" sz="2600" dirty="0" err="1"/>
              <a:t>предподсчитанных</a:t>
            </a:r>
            <a:r>
              <a:rPr lang="ru-RU" sz="2600" dirty="0"/>
              <a:t> значений.</a:t>
            </a:r>
            <a:endParaRPr lang="ru-UA" sz="2600" dirty="0"/>
          </a:p>
        </p:txBody>
      </p:sp>
    </p:spTree>
    <p:extLst>
      <p:ext uri="{BB962C8B-B14F-4D97-AF65-F5344CB8AC3E}">
        <p14:creationId xmlns:p14="http://schemas.microsoft.com/office/powerpoint/2010/main" val="4201409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2FEB8-C9FA-4EA5-992E-B8A35B921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254127"/>
            <a:ext cx="9418320" cy="1298448"/>
          </a:xfrm>
        </p:spPr>
        <p:txBody>
          <a:bodyPr>
            <a:normAutofit/>
          </a:bodyPr>
          <a:lstStyle/>
          <a:p>
            <a:pPr algn="ctr"/>
            <a:r>
              <a:rPr lang="ru-RU" sz="4400" dirty="0"/>
              <a:t>Подбор </a:t>
            </a:r>
            <a:r>
              <a:rPr lang="en-US" sz="4400" dirty="0"/>
              <a:t>k</a:t>
            </a:r>
            <a:r>
              <a:rPr lang="ru-RU" sz="4400" dirty="0"/>
              <a:t> для получения оптимальной асимптотики</a:t>
            </a:r>
            <a:endParaRPr lang="ru-UA" sz="4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2AAB87-3EF9-4357-A2E0-CD04F3C41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90701"/>
            <a:ext cx="9418320" cy="4724400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По стечению проделанных 3 шагов получили итоговую асимптотику О(</a:t>
            </a:r>
            <a:r>
              <a:rPr lang="en-US" sz="2400" dirty="0"/>
              <a:t>2</a:t>
            </a:r>
            <a:r>
              <a:rPr lang="en-US" sz="2400" baseline="30000" dirty="0"/>
              <a:t>2k</a:t>
            </a:r>
            <a:r>
              <a:rPr lang="en-US" sz="2400" dirty="0"/>
              <a:t>k</a:t>
            </a:r>
            <a:r>
              <a:rPr lang="ru-RU" sz="2400" dirty="0"/>
              <a:t> + 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ru-RU" sz="2400" i="1" baseline="30000" dirty="0"/>
              <a:t> </a:t>
            </a:r>
            <a:r>
              <a:rPr lang="ru-RU" sz="2400" dirty="0"/>
              <a:t>+</a:t>
            </a:r>
            <a:r>
              <a:rPr lang="ru-RU" sz="2400" i="1" baseline="30000" dirty="0"/>
              <a:t> </a:t>
            </a:r>
            <a:r>
              <a:rPr lang="en-US" sz="2400" dirty="0"/>
              <a:t>n</a:t>
            </a:r>
            <a:r>
              <a:rPr lang="en-US" sz="2400" baseline="30000" dirty="0"/>
              <a:t>3 </a:t>
            </a:r>
            <a:r>
              <a:rPr lang="en-US" sz="2400" dirty="0"/>
              <a:t>/ k</a:t>
            </a:r>
            <a:r>
              <a:rPr lang="ru-RU" sz="2400" dirty="0"/>
              <a:t>). Очевидно, что </a:t>
            </a:r>
            <a:r>
              <a:rPr lang="en-US" sz="2400" dirty="0"/>
              <a:t>k &lt; n, </a:t>
            </a:r>
            <a:r>
              <a:rPr lang="ru-RU" sz="2400" dirty="0"/>
              <a:t>поэтому имеем </a:t>
            </a:r>
            <a:r>
              <a:rPr lang="en-US" sz="2400" dirty="0"/>
              <a:t>O(2</a:t>
            </a:r>
            <a:r>
              <a:rPr lang="en-US" sz="2400" baseline="30000" dirty="0"/>
              <a:t>2k</a:t>
            </a:r>
            <a:r>
              <a:rPr lang="en-US" sz="2400" dirty="0"/>
              <a:t>k</a:t>
            </a:r>
            <a:r>
              <a:rPr lang="ru-RU" sz="2400" dirty="0"/>
              <a:t> + </a:t>
            </a:r>
            <a:r>
              <a:rPr lang="ru-RU" sz="2400" i="1" baseline="30000" dirty="0"/>
              <a:t> </a:t>
            </a:r>
            <a:r>
              <a:rPr lang="en-US" sz="2400" dirty="0"/>
              <a:t>n</a:t>
            </a:r>
            <a:r>
              <a:rPr lang="en-US" sz="2400" baseline="30000" dirty="0"/>
              <a:t>3 </a:t>
            </a:r>
            <a:r>
              <a:rPr lang="en-US" sz="2400" dirty="0"/>
              <a:t>/ k).</a:t>
            </a:r>
            <a:endParaRPr lang="ru-RU" sz="2400" dirty="0"/>
          </a:p>
          <a:p>
            <a:pPr algn="just"/>
            <a:r>
              <a:rPr lang="ru-RU" sz="2400" dirty="0"/>
              <a:t>Функции </a:t>
            </a:r>
            <a:r>
              <a:rPr lang="en-US" sz="2400" dirty="0"/>
              <a:t>O(2</a:t>
            </a:r>
            <a:r>
              <a:rPr lang="en-US" sz="2400" baseline="30000" dirty="0"/>
              <a:t>2k</a:t>
            </a:r>
            <a:r>
              <a:rPr lang="en-US" sz="2400" dirty="0"/>
              <a:t>k</a:t>
            </a:r>
            <a:r>
              <a:rPr lang="ru-RU" sz="2400" dirty="0"/>
              <a:t>) и </a:t>
            </a:r>
            <a:r>
              <a:rPr lang="en-US" sz="2400" dirty="0"/>
              <a:t>O(n</a:t>
            </a:r>
            <a:r>
              <a:rPr lang="en-US" sz="2400" baseline="30000" dirty="0"/>
              <a:t>3 </a:t>
            </a:r>
            <a:r>
              <a:rPr lang="en-US" sz="2400" dirty="0"/>
              <a:t>/ k) </a:t>
            </a:r>
            <a:r>
              <a:rPr lang="ru-RU" sz="2400" dirty="0"/>
              <a:t>обратно пропорциональны относительно </a:t>
            </a:r>
            <a:r>
              <a:rPr lang="en-US" sz="2400" dirty="0"/>
              <a:t>k, </a:t>
            </a:r>
            <a:r>
              <a:rPr lang="ru-RU" sz="2400" dirty="0"/>
              <a:t>поэтому для оптимальной асимптотики необходимо подобрать</a:t>
            </a:r>
            <a:r>
              <a:rPr lang="en-US" sz="2400" dirty="0"/>
              <a:t> </a:t>
            </a:r>
            <a:r>
              <a:rPr lang="ru-RU" sz="2400" dirty="0"/>
              <a:t>такое значение, чтобы они были максимально приближены друг к другу, и тогда худший случай будет наиболее выгодным.</a:t>
            </a:r>
          </a:p>
          <a:p>
            <a:pPr algn="just"/>
            <a:r>
              <a:rPr lang="ru-RU" sz="2400" dirty="0"/>
              <a:t>В итоге, при </a:t>
            </a:r>
            <a:r>
              <a:rPr lang="en-US" sz="2400" dirty="0"/>
              <a:t>k = </a:t>
            </a:r>
            <a:r>
              <a:rPr lang="en-US" sz="2400" dirty="0" err="1"/>
              <a:t>log</a:t>
            </a:r>
            <a:r>
              <a:rPr lang="en-US" sz="2400" baseline="-25000" dirty="0" err="1"/>
              <a:t>n</a:t>
            </a:r>
            <a:r>
              <a:rPr lang="ru-RU" sz="2400" baseline="-25000" dirty="0"/>
              <a:t> </a:t>
            </a:r>
            <a:r>
              <a:rPr lang="ru-RU" sz="2400" dirty="0"/>
              <a:t>функции будут соответственно равны </a:t>
            </a:r>
            <a:r>
              <a:rPr lang="en-US" sz="2400" dirty="0"/>
              <a:t>O(n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r>
              <a:rPr lang="en-US" sz="2400" dirty="0" err="1"/>
              <a:t>log</a:t>
            </a:r>
            <a:r>
              <a:rPr lang="en-US" sz="2400" baseline="-25000" dirty="0" err="1"/>
              <a:t>n</a:t>
            </a:r>
            <a:r>
              <a:rPr lang="ru-RU" sz="2400" dirty="0"/>
              <a:t>) и </a:t>
            </a:r>
            <a:r>
              <a:rPr lang="en-US" sz="2400" dirty="0"/>
              <a:t>O(n</a:t>
            </a:r>
            <a:r>
              <a:rPr lang="en-US" sz="2400" baseline="30000" dirty="0"/>
              <a:t>3 </a:t>
            </a:r>
            <a:r>
              <a:rPr lang="en-US" sz="2400" dirty="0"/>
              <a:t>/ </a:t>
            </a:r>
            <a:r>
              <a:rPr lang="en-US" sz="2400" dirty="0" err="1"/>
              <a:t>log</a:t>
            </a:r>
            <a:r>
              <a:rPr lang="en-US" sz="2400" baseline="-25000" dirty="0" err="1"/>
              <a:t>n</a:t>
            </a:r>
            <a:r>
              <a:rPr lang="en-US" sz="2400" dirty="0"/>
              <a:t>), </a:t>
            </a:r>
            <a:r>
              <a:rPr lang="ru-RU" sz="2400" dirty="0"/>
              <a:t>то есть приблизительно тому значению, к которому мы и стремились.</a:t>
            </a:r>
            <a:endParaRPr lang="ru-UA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528077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B59B2-3E99-430E-9502-04350C9F3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572" y="473202"/>
            <a:ext cx="9418320" cy="69837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Оценка по времени и памяти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CEBE52-CD7C-414F-830A-A11E287F1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8572" y="1737360"/>
            <a:ext cx="9418320" cy="4647438"/>
          </a:xfrm>
        </p:spPr>
        <p:txBody>
          <a:bodyPr>
            <a:normAutofit/>
          </a:bodyPr>
          <a:lstStyle/>
          <a:p>
            <a:r>
              <a:rPr lang="ru-RU" sz="2800" dirty="0"/>
              <a:t>Итого при </a:t>
            </a:r>
            <a:r>
              <a:rPr lang="en-US" sz="2800" dirty="0"/>
              <a:t>k = </a:t>
            </a:r>
            <a:r>
              <a:rPr lang="en-US" sz="2800" dirty="0" err="1"/>
              <a:t>log</a:t>
            </a:r>
            <a:r>
              <a:rPr lang="en-US" sz="2800" baseline="-25000" dirty="0" err="1"/>
              <a:t>n</a:t>
            </a:r>
            <a:r>
              <a:rPr lang="en-US" sz="2800" baseline="-25000" dirty="0"/>
              <a:t> </a:t>
            </a:r>
            <a:r>
              <a:rPr lang="ru-RU" sz="2800" dirty="0"/>
              <a:t> оценка по времени следующая:</a:t>
            </a:r>
          </a:p>
          <a:p>
            <a:r>
              <a:rPr lang="en-US" sz="2800" dirty="0"/>
              <a:t>O(n</a:t>
            </a:r>
            <a:r>
              <a:rPr lang="en-US" sz="2800" baseline="30000" dirty="0"/>
              <a:t>2</a:t>
            </a:r>
            <a:r>
              <a:rPr lang="en-US" sz="2800" dirty="0"/>
              <a:t> </a:t>
            </a:r>
            <a:r>
              <a:rPr lang="en-US" sz="2800" dirty="0" err="1"/>
              <a:t>log</a:t>
            </a:r>
            <a:r>
              <a:rPr lang="en-US" sz="2800" baseline="-25000" dirty="0" err="1"/>
              <a:t>n</a:t>
            </a:r>
            <a:r>
              <a:rPr lang="ru-RU" sz="2800" dirty="0"/>
              <a:t>  + </a:t>
            </a:r>
            <a:r>
              <a:rPr lang="en-US" sz="2800" dirty="0"/>
              <a:t>n</a:t>
            </a:r>
            <a:r>
              <a:rPr lang="en-US" sz="2800" baseline="30000" dirty="0"/>
              <a:t>2</a:t>
            </a:r>
            <a:r>
              <a:rPr lang="ru-RU" sz="2800" dirty="0"/>
              <a:t> +</a:t>
            </a:r>
            <a:r>
              <a:rPr lang="en-US" sz="2800" dirty="0"/>
              <a:t> n</a:t>
            </a:r>
            <a:r>
              <a:rPr lang="en-US" sz="2800" baseline="30000" dirty="0"/>
              <a:t>3 </a:t>
            </a:r>
            <a:r>
              <a:rPr lang="en-US" sz="2800" dirty="0"/>
              <a:t>/ </a:t>
            </a:r>
            <a:r>
              <a:rPr lang="en-US" sz="2800" dirty="0" err="1"/>
              <a:t>log</a:t>
            </a:r>
            <a:r>
              <a:rPr lang="en-US" sz="2800" baseline="-25000" dirty="0" err="1"/>
              <a:t>n</a:t>
            </a:r>
            <a:r>
              <a:rPr lang="en-US" sz="2800" dirty="0"/>
              <a:t>)</a:t>
            </a:r>
            <a:r>
              <a:rPr lang="ru-RU" sz="2800" dirty="0"/>
              <a:t> = </a:t>
            </a:r>
            <a:r>
              <a:rPr lang="en-US" sz="2800" dirty="0"/>
              <a:t>O(n</a:t>
            </a:r>
            <a:r>
              <a:rPr lang="en-US" sz="2800" baseline="30000" dirty="0"/>
              <a:t>3 </a:t>
            </a:r>
            <a:r>
              <a:rPr lang="en-US" sz="2800" dirty="0"/>
              <a:t>/ </a:t>
            </a:r>
            <a:r>
              <a:rPr lang="en-US" sz="2800" dirty="0" err="1"/>
              <a:t>log</a:t>
            </a:r>
            <a:r>
              <a:rPr lang="en-US" sz="2800" baseline="-25000" dirty="0" err="1"/>
              <a:t>n</a:t>
            </a:r>
            <a:r>
              <a:rPr lang="en-US" sz="2800" dirty="0"/>
              <a:t>)</a:t>
            </a:r>
            <a:endParaRPr lang="ru-RU" sz="2800" dirty="0"/>
          </a:p>
          <a:p>
            <a:endParaRPr lang="en-US" sz="2800" dirty="0"/>
          </a:p>
          <a:p>
            <a:r>
              <a:rPr lang="ru-RU" sz="2800" dirty="0"/>
              <a:t>По памяти выходит:</a:t>
            </a:r>
          </a:p>
          <a:p>
            <a:r>
              <a:rPr lang="en-US" sz="2800" dirty="0"/>
              <a:t>O(2</a:t>
            </a:r>
            <a:r>
              <a:rPr lang="en-US" sz="2800" baseline="30000" dirty="0"/>
              <a:t>2k </a:t>
            </a:r>
            <a:r>
              <a:rPr lang="en-US" sz="2800" dirty="0"/>
              <a:t>+ </a:t>
            </a:r>
            <a:r>
              <a:rPr lang="en-US" sz="2800" i="1" dirty="0"/>
              <a:t>n</a:t>
            </a:r>
            <a:r>
              <a:rPr lang="ru-RU" sz="2800" i="1" baseline="30000" dirty="0"/>
              <a:t>2</a:t>
            </a:r>
            <a:r>
              <a:rPr lang="en-US" sz="2800" i="1" dirty="0"/>
              <a:t> / k + </a:t>
            </a:r>
            <a:r>
              <a:rPr lang="en-US" sz="2800" dirty="0"/>
              <a:t>n</a:t>
            </a:r>
            <a:r>
              <a:rPr lang="en-US" sz="2800" baseline="30000" dirty="0"/>
              <a:t>2</a:t>
            </a:r>
            <a:r>
              <a:rPr lang="en-US" sz="2800" dirty="0"/>
              <a:t>) = O(n</a:t>
            </a:r>
            <a:r>
              <a:rPr lang="en-US" sz="2800" baseline="30000" dirty="0"/>
              <a:t>2</a:t>
            </a:r>
            <a:r>
              <a:rPr lang="en-US" sz="2800" dirty="0"/>
              <a:t> + n</a:t>
            </a:r>
            <a:r>
              <a:rPr lang="en-US" sz="2800" baseline="30000" dirty="0"/>
              <a:t>2</a:t>
            </a:r>
            <a:r>
              <a:rPr lang="en-US" sz="2800" dirty="0"/>
              <a:t>/</a:t>
            </a:r>
            <a:r>
              <a:rPr lang="en-US" sz="2800" dirty="0" err="1"/>
              <a:t>log</a:t>
            </a:r>
            <a:r>
              <a:rPr lang="en-US" sz="2800" baseline="-25000" dirty="0" err="1"/>
              <a:t>n</a:t>
            </a:r>
            <a:r>
              <a:rPr lang="en-US" sz="2800" dirty="0"/>
              <a:t> + n</a:t>
            </a:r>
            <a:r>
              <a:rPr lang="en-US" sz="2800" baseline="30000" dirty="0"/>
              <a:t>2</a:t>
            </a:r>
            <a:r>
              <a:rPr lang="en-US" sz="2800" dirty="0"/>
              <a:t>) = O(n</a:t>
            </a:r>
            <a:r>
              <a:rPr lang="en-US" sz="2800" baseline="30000" dirty="0"/>
              <a:t>2</a:t>
            </a:r>
            <a:r>
              <a:rPr lang="en-US" sz="2800" dirty="0"/>
              <a:t>)</a:t>
            </a:r>
            <a:endParaRPr lang="ru-RU" sz="2800" dirty="0"/>
          </a:p>
          <a:p>
            <a:r>
              <a:rPr lang="ru-RU" sz="2800" dirty="0"/>
              <a:t>Несмотря на 3 вспомогательных матрицы асимптотически по памяти мы не проигрываем.</a:t>
            </a:r>
            <a:endParaRPr lang="ru-UA" sz="2800" baseline="-25000" dirty="0"/>
          </a:p>
          <a:p>
            <a:endParaRPr lang="ru-UA" sz="2800" dirty="0"/>
          </a:p>
        </p:txBody>
      </p:sp>
    </p:spTree>
    <p:extLst>
      <p:ext uri="{BB962C8B-B14F-4D97-AF65-F5344CB8AC3E}">
        <p14:creationId xmlns:p14="http://schemas.microsoft.com/office/powerpoint/2010/main" val="2664478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4A9C5-9853-46CE-A8E1-137026888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-300990"/>
            <a:ext cx="9418320" cy="1146048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Оптимизация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F436A1-5E24-4013-B226-7D4A9EE66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130617"/>
            <a:ext cx="9418320" cy="5034915"/>
          </a:xfrm>
        </p:spPr>
        <p:txBody>
          <a:bodyPr>
            <a:normAutofit/>
          </a:bodyPr>
          <a:lstStyle/>
          <a:p>
            <a:pPr algn="just"/>
            <a:r>
              <a:rPr lang="ru-RU" sz="2000" dirty="0"/>
              <a:t>1) Округлять </a:t>
            </a:r>
            <a:r>
              <a:rPr lang="en-US" sz="2000" dirty="0"/>
              <a:t>k </a:t>
            </a:r>
            <a:r>
              <a:rPr lang="ru-RU" sz="2000" dirty="0"/>
              <a:t>наверх. Так как </a:t>
            </a:r>
            <a:r>
              <a:rPr lang="en-US" sz="2000" dirty="0" err="1"/>
              <a:t>log</a:t>
            </a:r>
            <a:r>
              <a:rPr lang="en-US" sz="2000" baseline="-25000" dirty="0" err="1"/>
              <a:t>n</a:t>
            </a:r>
            <a:r>
              <a:rPr lang="ru-RU" sz="2000" baseline="-25000" dirty="0"/>
              <a:t> </a:t>
            </a:r>
            <a:r>
              <a:rPr lang="ru-RU" sz="2000" dirty="0"/>
              <a:t>может быть не целым числом, то лучше округлять число </a:t>
            </a:r>
            <a:r>
              <a:rPr lang="en-US" sz="2000" dirty="0"/>
              <a:t>k</a:t>
            </a:r>
            <a:r>
              <a:rPr lang="ru-RU" sz="2000" dirty="0"/>
              <a:t> наверх, так как исходя из итоговой асимптотики чем больше </a:t>
            </a:r>
            <a:r>
              <a:rPr lang="en-US" sz="2000" dirty="0"/>
              <a:t>k,</a:t>
            </a:r>
            <a:r>
              <a:rPr lang="ru-RU" sz="2000" dirty="0"/>
              <a:t> тем быстрее</a:t>
            </a:r>
            <a:r>
              <a:rPr lang="en-US" sz="2000" dirty="0"/>
              <a:t>;</a:t>
            </a:r>
            <a:endParaRPr lang="ru-RU" sz="2000" dirty="0"/>
          </a:p>
          <a:p>
            <a:pPr algn="just"/>
            <a:r>
              <a:rPr lang="ru-RU" sz="2000" dirty="0"/>
              <a:t>2) Считать половину матрицы </a:t>
            </a:r>
            <a:r>
              <a:rPr lang="en-US" sz="2000" dirty="0"/>
              <a:t>H. </a:t>
            </a:r>
            <a:r>
              <a:rPr lang="ru-RU" sz="2000" dirty="0"/>
              <a:t>Очевидно, что она симметрична относительно своей диагонали, поэтому</a:t>
            </a:r>
            <a:r>
              <a:rPr lang="en-US" sz="2000" dirty="0"/>
              <a:t> </a:t>
            </a:r>
            <a:r>
              <a:rPr lang="ru-RU" sz="2000" dirty="0"/>
              <a:t>можно перебирать только </a:t>
            </a:r>
            <a:r>
              <a:rPr lang="en-US" sz="2000" dirty="0"/>
              <a:t>j &gt;=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ru-RU" sz="2000" dirty="0"/>
              <a:t>и, записывая значение для </a:t>
            </a:r>
            <a:r>
              <a:rPr lang="en-US" sz="2000" dirty="0" err="1"/>
              <a:t>H</a:t>
            </a:r>
            <a:r>
              <a:rPr lang="en-US" sz="2000" baseline="-25000" dirty="0" err="1"/>
              <a:t>i,j</a:t>
            </a:r>
            <a:r>
              <a:rPr lang="en-US" sz="2000" dirty="0"/>
              <a:t> </a:t>
            </a:r>
            <a:r>
              <a:rPr lang="ru-RU" sz="2000" dirty="0"/>
              <a:t>записывать их и для </a:t>
            </a:r>
            <a:r>
              <a:rPr lang="en-US" sz="2000" dirty="0" err="1"/>
              <a:t>H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, </a:t>
            </a:r>
            <a:r>
              <a:rPr lang="en-US" sz="2000" baseline="-25000" dirty="0" err="1"/>
              <a:t>i</a:t>
            </a:r>
            <a:r>
              <a:rPr lang="en-US" sz="2000" dirty="0"/>
              <a:t>;</a:t>
            </a:r>
          </a:p>
          <a:p>
            <a:pPr algn="just"/>
            <a:r>
              <a:rPr lang="en-US" sz="2000" dirty="0"/>
              <a:t>3) </a:t>
            </a:r>
            <a:r>
              <a:rPr lang="ru-RU" sz="2000" dirty="0"/>
              <a:t>Параллельно сжимать матрицу А и В. Вместо того, чтобы делать 2 практически идентичных двойных цикла для сжатия сначала одной матрицы, а потом другой, это можно сделать всего в одном</a:t>
            </a:r>
            <a:r>
              <a:rPr lang="en-US" sz="2000" dirty="0"/>
              <a:t>;</a:t>
            </a:r>
            <a:endParaRPr lang="ru-RU" sz="2000" dirty="0"/>
          </a:p>
          <a:p>
            <a:pPr algn="just"/>
            <a:r>
              <a:rPr lang="ru-RU" sz="2000" dirty="0"/>
              <a:t>4) Вместо довольно часто встречающейся операции </a:t>
            </a:r>
            <a:r>
              <a:rPr lang="en-US" sz="2000" dirty="0"/>
              <a:t>% 2 </a:t>
            </a:r>
            <a:r>
              <a:rPr lang="ru-RU" sz="2000" dirty="0"/>
              <a:t>использовать </a:t>
            </a:r>
            <a:r>
              <a:rPr lang="en-US" sz="2000" dirty="0"/>
              <a:t>&amp; 1</a:t>
            </a:r>
            <a:r>
              <a:rPr lang="ru-RU" sz="2000" dirty="0"/>
              <a:t> или </a:t>
            </a:r>
            <a:r>
              <a:rPr lang="ru-UA" dirty="0"/>
              <a:t>⊕</a:t>
            </a:r>
            <a:r>
              <a:rPr lang="en-US" sz="2000" dirty="0"/>
              <a:t>, </a:t>
            </a:r>
            <a:r>
              <a:rPr lang="ru-RU" sz="2000" dirty="0"/>
              <a:t>что по сути является аналогичным вариантом</a:t>
            </a:r>
            <a:r>
              <a:rPr lang="en-US" sz="2000" dirty="0"/>
              <a:t>;</a:t>
            </a:r>
            <a:endParaRPr lang="ru-RU" sz="2000" dirty="0"/>
          </a:p>
          <a:p>
            <a:pPr algn="just"/>
            <a:r>
              <a:rPr lang="ru-RU" sz="2000" dirty="0"/>
              <a:t>5) Хранить все матрицы, кроме </a:t>
            </a:r>
            <a:r>
              <a:rPr lang="en-US" sz="2000" dirty="0"/>
              <a:t>A</a:t>
            </a:r>
            <a:r>
              <a:rPr lang="he-IL" sz="2000" dirty="0"/>
              <a:t>‏׳‏‎</a:t>
            </a:r>
            <a:r>
              <a:rPr lang="ru-RU" sz="2000" dirty="0"/>
              <a:t> и </a:t>
            </a:r>
            <a:r>
              <a:rPr lang="en-US" sz="2000" dirty="0"/>
              <a:t>B</a:t>
            </a:r>
            <a:r>
              <a:rPr lang="he-IL" sz="2000" dirty="0"/>
              <a:t>‏׳</a:t>
            </a:r>
            <a:r>
              <a:rPr lang="ru-RU" sz="2000" dirty="0"/>
              <a:t> в виде булевых матриц. Тогда асимптотика по памяти уменьшится до </a:t>
            </a:r>
            <a:r>
              <a:rPr lang="en-US" sz="2000" dirty="0"/>
              <a:t>O(n</a:t>
            </a:r>
            <a:r>
              <a:rPr lang="en-US" sz="2000" baseline="30000" dirty="0"/>
              <a:t>2</a:t>
            </a:r>
            <a:r>
              <a:rPr lang="en-US" sz="2000" dirty="0"/>
              <a:t>/</a:t>
            </a:r>
            <a:r>
              <a:rPr lang="en-US" sz="2000" dirty="0" err="1"/>
              <a:t>log</a:t>
            </a:r>
            <a:r>
              <a:rPr lang="en-US" sz="2000" baseline="-25000" dirty="0" err="1"/>
              <a:t>n</a:t>
            </a:r>
            <a:r>
              <a:rPr lang="en-US" sz="2000" dirty="0"/>
              <a:t>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2651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01A35-04DD-4945-A94C-1AA29918D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3347" y="-3079623"/>
            <a:ext cx="9418320" cy="4041648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Замеры скорости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9E61CC-40DF-46A4-83DF-668DE1A6D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981575"/>
            <a:ext cx="9418320" cy="1691640"/>
          </a:xfrm>
        </p:spPr>
        <p:txBody>
          <a:bodyPr/>
          <a:lstStyle/>
          <a:p>
            <a:endParaRPr lang="ru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7B5A10-A67F-439F-8489-256D3A6D9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627" y="1296609"/>
            <a:ext cx="8493759" cy="50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48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FEFEE9-DF10-4D66-B87B-0A26272E8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813435"/>
            <a:ext cx="9418320" cy="67932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800" dirty="0"/>
              <a:t>Минусы алгоритма относительно наивной реализации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F8832C-724E-43DC-A468-DCD788B4A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828800"/>
            <a:ext cx="9418320" cy="454342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1) Более сложный и громоздкий в реализации. Наивный алгоритм по объёму занимает около 10 строчек кода, а метод четырёх русских бьётся на 3 шага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2) Только для битовых матриц с операциями по модулю 2. Наивная реализация, по сути, универсальна для перемножения любых матриц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3) Имеет константу в памяти. А если применить оптимизацию с хранением только булевых значений, то уже проигрывает очень сильно, так как наивный алгоритм тогда вообще будет иметь минимальный расход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4) Эффективен только на больших входных данных, так как </a:t>
            </a:r>
            <a:r>
              <a:rPr lang="en-US" dirty="0" err="1"/>
              <a:t>log</a:t>
            </a:r>
            <a:r>
              <a:rPr lang="en-US" baseline="-25000" dirty="0" err="1"/>
              <a:t>n</a:t>
            </a:r>
            <a:r>
              <a:rPr lang="en-US" baseline="-25000" dirty="0"/>
              <a:t> </a:t>
            </a:r>
            <a:r>
              <a:rPr lang="ru-RU" dirty="0"/>
              <a:t>набирает более-менее ощутимое значение при </a:t>
            </a:r>
            <a:r>
              <a:rPr lang="en-US" dirty="0"/>
              <a:t>n = 500, </a:t>
            </a:r>
            <a:r>
              <a:rPr lang="ru-RU" dirty="0"/>
              <a:t>а до этого и наивный алгоритм сработает быстро</a:t>
            </a:r>
            <a:r>
              <a:rPr lang="en-US" dirty="0"/>
              <a:t>.</a:t>
            </a:r>
            <a:endParaRPr lang="ru-RU" baseline="-25000" dirty="0"/>
          </a:p>
          <a:p>
            <a:endParaRPr lang="ru-RU" dirty="0"/>
          </a:p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791850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E37DB-87F5-4749-9712-AB16B0809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270509"/>
            <a:ext cx="9418320" cy="862965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Почему квадратные матрицы?</a:t>
            </a:r>
            <a:endParaRPr lang="ru-UA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B1694A-57F9-435D-A4ED-E7A21C0DF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737359"/>
            <a:ext cx="9418320" cy="4349115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В самом деле, изучив данный алгоритм, можно задаться вопросом, почему матрицы должны быть именно квадратными?</a:t>
            </a:r>
          </a:p>
          <a:p>
            <a:pPr algn="just"/>
            <a:r>
              <a:rPr lang="ru-RU" sz="2400" dirty="0"/>
              <a:t>Оказывается, просто исторически сложилось, что данный алгоритм демонстрируется на квадратных матрицах для наглядности асимптотики и эффективности алгоритма, поэтому практически невозможно найти в источниках другие варианты. В реале он применим и для прямоугольных битовых матриц.</a:t>
            </a:r>
          </a:p>
          <a:p>
            <a:pPr algn="just"/>
            <a:r>
              <a:rPr lang="ru-RU" sz="2400" dirty="0"/>
              <a:t>Тогда при перемножении </a:t>
            </a:r>
            <a:r>
              <a:rPr lang="en-US" sz="2400" dirty="0"/>
              <a:t>A</a:t>
            </a:r>
            <a:r>
              <a:rPr lang="en-US" sz="2400" baseline="-25000" dirty="0"/>
              <a:t>m</a:t>
            </a:r>
            <a:r>
              <a:rPr lang="ru-UA" sz="2400" baseline="-25000" dirty="0"/>
              <a:t> ×</a:t>
            </a:r>
            <a:r>
              <a:rPr lang="en-US" sz="2400" baseline="-25000" dirty="0"/>
              <a:t> n</a:t>
            </a:r>
            <a:r>
              <a:rPr lang="en-US" sz="2400" dirty="0"/>
              <a:t> </a:t>
            </a:r>
            <a:r>
              <a:rPr lang="ru-UA" sz="2400" dirty="0"/>
              <a:t>×</a:t>
            </a:r>
            <a:r>
              <a:rPr lang="en-US" sz="2400" dirty="0"/>
              <a:t> B</a:t>
            </a:r>
            <a:r>
              <a:rPr lang="en-US" sz="2400" baseline="-25000" dirty="0"/>
              <a:t>n</a:t>
            </a:r>
            <a:r>
              <a:rPr lang="ru-UA" sz="2400" baseline="-25000" dirty="0"/>
              <a:t> ×</a:t>
            </a:r>
            <a:r>
              <a:rPr lang="en-US" sz="2400" baseline="-25000" dirty="0"/>
              <a:t> k</a:t>
            </a:r>
            <a:r>
              <a:rPr lang="ru-RU" sz="2400" baseline="-25000" dirty="0"/>
              <a:t> </a:t>
            </a:r>
            <a:r>
              <a:rPr lang="ru-RU" sz="2400" dirty="0"/>
              <a:t>по времени выйдет </a:t>
            </a:r>
            <a:r>
              <a:rPr lang="en-US" sz="2400" dirty="0"/>
              <a:t>O(m * k * n / </a:t>
            </a:r>
            <a:r>
              <a:rPr lang="en-US" sz="2400" dirty="0" err="1"/>
              <a:t>log</a:t>
            </a:r>
            <a:r>
              <a:rPr lang="en-US" sz="2400" baseline="-25000" dirty="0" err="1"/>
              <a:t>n</a:t>
            </a:r>
            <a:r>
              <a:rPr lang="ru-RU" sz="2400" dirty="0"/>
              <a:t>).</a:t>
            </a:r>
            <a:endParaRPr lang="ru-UA" sz="2400" dirty="0"/>
          </a:p>
        </p:txBody>
      </p:sp>
    </p:spTree>
    <p:extLst>
      <p:ext uri="{BB962C8B-B14F-4D97-AF65-F5344CB8AC3E}">
        <p14:creationId xmlns:p14="http://schemas.microsoft.com/office/powerpoint/2010/main" val="3383607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448C8-8252-4B73-A771-8481C4507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203835"/>
            <a:ext cx="9418320" cy="898398"/>
          </a:xfrm>
        </p:spPr>
        <p:txBody>
          <a:bodyPr>
            <a:normAutofit/>
          </a:bodyPr>
          <a:lstStyle/>
          <a:p>
            <a:pPr algn="ctr"/>
            <a:r>
              <a:rPr lang="ru-RU" sz="3600" dirty="0"/>
              <a:t>Применение алгоритма и метода в целом</a:t>
            </a:r>
            <a:endParaRPr lang="ru-UA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B0E4EF-7480-4BA4-B1B7-AAA6BA414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657350"/>
            <a:ext cx="9418320" cy="4834890"/>
          </a:xfrm>
        </p:spPr>
        <p:txBody>
          <a:bodyPr/>
          <a:lstStyle/>
          <a:p>
            <a:r>
              <a:rPr lang="ru-RU" dirty="0"/>
              <a:t>1) Криптоанализ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2) Подсчёт стоимости решения системы булевых уравнений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3) Идея </a:t>
            </a:r>
            <a:r>
              <a:rPr lang="ru-RU" dirty="0" err="1"/>
              <a:t>предподсчёта</a:t>
            </a:r>
            <a:r>
              <a:rPr lang="ru-RU" dirty="0"/>
              <a:t> всех исходов событий для того, чтобы затем более эффективно их использовать. Теоретически, подобный </a:t>
            </a:r>
            <a:r>
              <a:rPr lang="ru-RU" dirty="0" err="1"/>
              <a:t>предподсчёт</a:t>
            </a:r>
            <a:r>
              <a:rPr lang="ru-RU" dirty="0"/>
              <a:t> можно сделать не только для битовых векторов, но и векторов, где встречается до 3, 4 различных значений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4) Идея «битового сжатия». На такой идее основана структура данных </a:t>
            </a:r>
            <a:r>
              <a:rPr lang="en-US" dirty="0" err="1"/>
              <a:t>stl</a:t>
            </a:r>
            <a:r>
              <a:rPr lang="ru-RU" dirty="0"/>
              <a:t> </a:t>
            </a:r>
            <a:r>
              <a:rPr lang="en-US" dirty="0" err="1"/>
              <a:t>bitset</a:t>
            </a:r>
            <a:r>
              <a:rPr lang="en-US" dirty="0"/>
              <a:t>, </a:t>
            </a:r>
            <a:r>
              <a:rPr lang="ru-RU" dirty="0"/>
              <a:t>которая позволяет</a:t>
            </a:r>
            <a:r>
              <a:rPr lang="en-US" dirty="0"/>
              <a:t> </a:t>
            </a:r>
            <a:r>
              <a:rPr lang="ru-RU" dirty="0"/>
              <a:t>эффективно работать с множествами и  выполнять алгоритм </a:t>
            </a:r>
            <a:r>
              <a:rPr lang="ru-RU" dirty="0" err="1"/>
              <a:t>Варшалла</a:t>
            </a:r>
            <a:r>
              <a:rPr lang="ru-RU" dirty="0"/>
              <a:t> за </a:t>
            </a:r>
            <a:r>
              <a:rPr lang="en-US" dirty="0"/>
              <a:t>n</a:t>
            </a:r>
            <a:r>
              <a:rPr lang="en-US" baseline="30000" dirty="0"/>
              <a:t>3</a:t>
            </a:r>
            <a:r>
              <a:rPr lang="en-US" dirty="0"/>
              <a:t>/</a:t>
            </a:r>
            <a:r>
              <a:rPr lang="en-US" dirty="0" err="1"/>
              <a:t>log</a:t>
            </a:r>
            <a:r>
              <a:rPr lang="en-US" baseline="-25000" dirty="0" err="1"/>
              <a:t>n</a:t>
            </a:r>
            <a:r>
              <a:rPr lang="ru-RU" dirty="0"/>
              <a:t>, задачу о рюкзаке за </a:t>
            </a:r>
            <a:r>
              <a:rPr lang="en-US" dirty="0" err="1"/>
              <a:t>nw</a:t>
            </a:r>
            <a:r>
              <a:rPr lang="en-US" dirty="0"/>
              <a:t>/</a:t>
            </a:r>
            <a:r>
              <a:rPr lang="en-US" dirty="0" err="1"/>
              <a:t>log</a:t>
            </a:r>
            <a:r>
              <a:rPr lang="en-US" baseline="-25000" dirty="0" err="1"/>
              <a:t>w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5) Поиск наибольшей возрастающей подпоследовательности за 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dirty="0"/>
              <a:t>/log</a:t>
            </a:r>
            <a:r>
              <a:rPr lang="en-US" baseline="-25000" dirty="0"/>
              <a:t>n</a:t>
            </a:r>
            <a:r>
              <a:rPr lang="en-US" baseline="30000" dirty="0"/>
              <a:t>2</a:t>
            </a:r>
            <a:r>
              <a:rPr lang="uk-UA" baseline="-25000" dirty="0"/>
              <a:t>.</a:t>
            </a:r>
            <a:endParaRPr lang="ru-UA" baseline="-25000" dirty="0"/>
          </a:p>
        </p:txBody>
      </p:sp>
    </p:spTree>
    <p:extLst>
      <p:ext uri="{BB962C8B-B14F-4D97-AF65-F5344CB8AC3E}">
        <p14:creationId xmlns:p14="http://schemas.microsoft.com/office/powerpoint/2010/main" val="3823607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C0219-F9F5-4471-A1C6-F99FC5F6B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130302"/>
            <a:ext cx="9418320" cy="717423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Анализ источников</a:t>
            </a:r>
            <a:endParaRPr lang="ru-UA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F3C8B7-083D-41D3-BB02-692C0F6F6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333500"/>
            <a:ext cx="9418320" cy="5200650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sz="1600" dirty="0"/>
              <a:t>https://neerc.ifmo.ru/wiki/index.php?title=%D0%9C%D0%B5%D1%82%D0%BE%D0%B4_%D1%87%D0%B5%D1%82%D1%8B%D1%80%D0%B5%D1%85_%D1%80%D1%83%D1%81%D1%81%D0%BA%D0%B8%D1%85_%D0%B4%D0%BB%D1%8F_%D1%83%D0%BC%D0%BD%D0%BE%D0%B6%D0%B5%D0%BD%D0%B8%D1%8F_%D0%BC%D0%B0%D1%82%D1%80%D0%B8%D1%86</a:t>
            </a:r>
            <a:endParaRPr lang="ru-RU" sz="1600" dirty="0"/>
          </a:p>
          <a:p>
            <a:pPr marL="457200" indent="-457200">
              <a:buAutoNum type="arabicParenR"/>
            </a:pPr>
            <a:r>
              <a:rPr lang="en-US" sz="1600" dirty="0">
                <a:hlinkClick r:id="rId2"/>
              </a:rPr>
              <a:t>https://slides.in.ua/algo/dynamic/four-russians/#/</a:t>
            </a:r>
            <a:endParaRPr lang="ru-RU" sz="1600" dirty="0"/>
          </a:p>
          <a:p>
            <a:pPr marL="457200" indent="-457200">
              <a:buAutoNum type="arabicParenR"/>
            </a:pPr>
            <a:r>
              <a:rPr lang="en-US" sz="1600" dirty="0">
                <a:hlinkClick r:id="rId3"/>
              </a:rPr>
              <a:t>https://eprint.iacr.org/2006/251.pdf</a:t>
            </a:r>
            <a:endParaRPr lang="ru-RU" sz="1600" dirty="0"/>
          </a:p>
          <a:p>
            <a:pPr marL="457200" indent="-457200">
              <a:buFont typeface="Arial" pitchFamily="34" charset="0"/>
              <a:buAutoNum type="arabicParenR"/>
            </a:pPr>
            <a:r>
              <a:rPr lang="en-US" sz="1600" dirty="0"/>
              <a:t>https://neerc.ifmo.ru/wiki/index.php?title=%D0%9F%D1%80%D0%B8%D0%BC%D0%B5%D0%BD%D0%B5%D0%BD%D0%B8%D0%B5_%D0%BC%D0%B5%D1%82%D0%BE%D0%B4%D0%B0_%D1%87%D0%B5%D1%82%D1%8B%D1%80%D0%B5%D1%85_%D1%80%D1%83%D1%81%D1%81%D0%BA%D0%B8%D1%85_%D0%B2_%D0%B7%D0%B0%D0%B4%D0%B0%D1%87%D0%B0%D1%85_%D0%94%D0%9F_%D0%BD%D0%B0_%D0%BF%D1%80%D0%B8%D0%BC%D0%B5%D1%80%D0%B5_%D0%B7%D0%B0%D0%B4%D0%B0%D1%87%D0%B8_%D0%BE_%D0%9D%D0%9E%D0%9F</a:t>
            </a:r>
            <a:endParaRPr lang="ru-RU" sz="1600" dirty="0"/>
          </a:p>
          <a:p>
            <a:pPr marL="457200" indent="-457200">
              <a:buAutoNum type="arabicParenR"/>
            </a:pPr>
            <a:r>
              <a:rPr lang="en-US" sz="1600" dirty="0">
                <a:hlinkClick r:id="rId4"/>
              </a:rPr>
              <a:t>http://acm.math.spbu.ru/~sk1/mm/lections/2014-08-20-bits.pdf</a:t>
            </a:r>
            <a:endParaRPr lang="ru-RU" sz="1600" dirty="0"/>
          </a:p>
          <a:p>
            <a:pPr marL="457200" indent="-457200">
              <a:buAutoNum type="arabicParenR"/>
            </a:pPr>
            <a:r>
              <a:rPr lang="en-US" sz="1600" dirty="0"/>
              <a:t>https://ru.wikipedia.org/wiki/%D0%90%D1%80%D0%BB%D0%B0%D0%B7%D0%B0%D1%80%D0%BE%D0%B2,_%D0%92%D0%BB%D0%B0%D0%B4%D0%B8%D0%BC%D0%B8%D1%80_%D0%9B%D1%8C%D0%B2%D0%BE%D0%B2%D0%B8%D1%87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105725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B9BA4-3583-4CC0-925D-5772F3346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1974723"/>
          </a:xfrm>
        </p:spPr>
        <p:txBody>
          <a:bodyPr>
            <a:normAutofit/>
          </a:bodyPr>
          <a:lstStyle/>
          <a:p>
            <a:pPr algn="ctr"/>
            <a:r>
              <a:rPr lang="ru-RU" sz="6600" dirty="0"/>
              <a:t>Спасибо за внимание!</a:t>
            </a:r>
            <a:endParaRPr lang="ru-UA" sz="6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AA8546-81A1-411E-BF1E-E86A27F96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98527946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1039</TotalTime>
  <Words>1988</Words>
  <Application>Microsoft Office PowerPoint</Application>
  <PresentationFormat>Широкоэкранный</PresentationFormat>
  <Paragraphs>98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Century Schoolbook</vt:lpstr>
      <vt:lpstr>Wingdings 2</vt:lpstr>
      <vt:lpstr>Вид</vt:lpstr>
      <vt:lpstr>Метод четырёх русских</vt:lpstr>
      <vt:lpstr>В чём состоит задача?</vt:lpstr>
      <vt:lpstr>Наивный алгоритм</vt:lpstr>
      <vt:lpstr>История создания</vt:lpstr>
      <vt:lpstr>Основная идея</vt:lpstr>
      <vt:lpstr>План действий</vt:lpstr>
      <vt:lpstr>Шаг 1 Предподсчёт произведений векторов длины k</vt:lpstr>
      <vt:lpstr>Пример работы первого шага для k = 2</vt:lpstr>
      <vt:lpstr>Шаг 2 Сжатие исходных матрицы А и В </vt:lpstr>
      <vt:lpstr>Пример работы второго шага для n = 5, k = 2 </vt:lpstr>
      <vt:lpstr>Шаг 3 Умножение полученных сжатых матриц</vt:lpstr>
      <vt:lpstr>Пример работы шага 3 для n = 5, k = 2</vt:lpstr>
      <vt:lpstr>Почему это работает?</vt:lpstr>
      <vt:lpstr>Подбор k для получения оптимальной асимптотики</vt:lpstr>
      <vt:lpstr>Оценка по времени и памяти</vt:lpstr>
      <vt:lpstr>Оптимизация</vt:lpstr>
      <vt:lpstr>Замеры скорости</vt:lpstr>
      <vt:lpstr>Минусы алгоритма относительно наивной реализации</vt:lpstr>
      <vt:lpstr>Почему квадратные матрицы?</vt:lpstr>
      <vt:lpstr>Применение алгоритма и метода в целом</vt:lpstr>
      <vt:lpstr>Анализ источников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четырёх русских</dc:title>
  <dc:creator>Иван Евтушенко</dc:creator>
  <cp:lastModifiedBy>Иван Евтушенко</cp:lastModifiedBy>
  <cp:revision>60</cp:revision>
  <dcterms:created xsi:type="dcterms:W3CDTF">2019-01-25T08:33:14Z</dcterms:created>
  <dcterms:modified xsi:type="dcterms:W3CDTF">2019-01-26T04:03:43Z</dcterms:modified>
</cp:coreProperties>
</file>